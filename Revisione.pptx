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88" r:id="rId3"/>
    <p:sldId id="268" r:id="rId4"/>
    <p:sldId id="257" r:id="rId5"/>
    <p:sldId id="270" r:id="rId6"/>
    <p:sldId id="271" r:id="rId7"/>
    <p:sldId id="272" r:id="rId8"/>
    <p:sldId id="289" r:id="rId9"/>
    <p:sldId id="273" r:id="rId10"/>
    <p:sldId id="258" r:id="rId11"/>
    <p:sldId id="259" r:id="rId12"/>
    <p:sldId id="265" r:id="rId13"/>
    <p:sldId id="261" r:id="rId14"/>
    <p:sldId id="260" r:id="rId15"/>
    <p:sldId id="266" r:id="rId16"/>
    <p:sldId id="262" r:id="rId17"/>
    <p:sldId id="267" r:id="rId18"/>
    <p:sldId id="263" r:id="rId19"/>
    <p:sldId id="264" r:id="rId20"/>
    <p:sldId id="293" r:id="rId21"/>
    <p:sldId id="290" r:id="rId22"/>
    <p:sldId id="277" r:id="rId23"/>
    <p:sldId id="278" r:id="rId24"/>
    <p:sldId id="279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91" r:id="rId33"/>
    <p:sldId id="292" r:id="rId34"/>
    <p:sldId id="294" r:id="rId3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EFB71D-ED28-7D9F-9792-68691B69FD23}" v="5" dt="2026-01-15T01:55:52.074"/>
    <p1510:client id="{95D87242-DA9F-4025-94DB-BFB2745B9DCD}" v="43" dt="2026-01-14T14:12:53.5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evolve my character, so that I progress in the game.</a:t>
          </a:r>
          <a:endParaRPr lang="it-IT" noProof="0" dirty="0"/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new ability appears in the ability list</a:t>
          </a:r>
          <a:endParaRPr lang="it-IT" noProof="0" dirty="0"/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 I want to save my progress in either the current slot or another one so that I can continue my game from the last save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save menu lists all slots and if a slot is already used, confirmation for overwrite is required.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Memento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make choices that influence the main story, so that I can experience a unique and personalized narrative.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system records choices for future consequences.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Builder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As a player, I want to evolve my character, so that I progress in the game.</a:t>
          </a:r>
          <a:endParaRPr lang="it-IT" sz="2500" kern="1200" noProof="0" dirty="0"/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acceptance criteria: the new ability appears in the ability list</a:t>
          </a:r>
          <a:endParaRPr lang="it-IT" sz="2500" kern="1200" noProof="0" dirty="0"/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 I want to save my progress in either the current slot or another one so that I can continue my game from the last save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save menu lists all slots and if a slot is already used, confirmation for overwrite is required.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</a:t>
          </a:r>
          <a:r>
            <a:rPr lang="it-IT" sz="1200" kern="1200" noProof="0" dirty="0" err="1"/>
            <a:t>usatO</a:t>
          </a:r>
          <a:r>
            <a:rPr lang="it-IT" sz="1200" kern="1200" noProof="0" dirty="0"/>
            <a:t>: </a:t>
          </a:r>
          <a:r>
            <a:rPr lang="it-IT" sz="1200" b="1" kern="1200" noProof="0" dirty="0"/>
            <a:t>Memento</a:t>
          </a:r>
        </a:p>
      </dsp:txBody>
      <dsp:txXfrm>
        <a:off x="7072023" y="2615580"/>
        <a:ext cx="2981250" cy="7200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player, I want to make choices that influence the main story, so that I can experience a unique and personalized narrative.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system records choices for future consequences.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Pattern: Builder</a:t>
          </a:r>
          <a:endParaRPr lang="it-IT" sz="12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502E-200B-6A02-49F5-D7CE9A421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2F8DEC0-A555-D710-CA95-5572840D4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61CE1A-B8A6-45CC-A1AE-0F2DCB62D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8F8222-2E9E-6026-2657-571FE73C9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69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earts.org/2011/10/sk1-development-restarted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noProof="0">
                <a:solidFill>
                  <a:schemeClr val="bg1">
                    <a:lumMod val="95000"/>
                    <a:lumOff val="5000"/>
                  </a:schemeClr>
                </a:solidFill>
              </a:rPr>
              <a:t>The Cycle Game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4AD810-B3E5-CCFC-0F23-79846C340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First Sprint</a:t>
            </a:r>
          </a:p>
        </p:txBody>
      </p:sp>
    </p:spTree>
    <p:extLst>
      <p:ext uri="{BB962C8B-B14F-4D97-AF65-F5344CB8AC3E}">
        <p14:creationId xmlns:p14="http://schemas.microsoft.com/office/powerpoint/2010/main" val="1189454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Immagine che contiene testo, schermata, linea, Carattere">
            <a:extLst>
              <a:ext uri="{FF2B5EF4-FFF2-40B4-BE49-F238E27FC236}">
                <a16:creationId xmlns:a16="http://schemas.microsoft.com/office/drawing/2014/main" id="{AE35E050-4339-0B19-F347-7C1C5135B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79143" y="1685539"/>
            <a:ext cx="5221625" cy="3486922"/>
          </a:xfrm>
          <a:prstGeom prst="rect">
            <a:avLst/>
          </a:prstGeom>
        </p:spPr>
      </p:pic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Model</a:t>
            </a: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Contiene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la logica del gioco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i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dati.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Esempi: Statistiche del personaggio (HP, </a:t>
            </a:r>
            <a:r>
              <a:rPr lang="it-IT" sz="2000" noProof="0" dirty="0" err="1">
                <a:solidFill>
                  <a:schemeClr val="tx1">
                    <a:alpha val="80000"/>
                  </a:schemeClr>
                </a:solidFill>
              </a:rPr>
              <a:t>livello,nemici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oggetti)</a:t>
            </a:r>
          </a:p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Non sa nulla di come il gioco viene mostrato a schermo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2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24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F361050-6AB5-603E-5284-781485D4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Il Nostro MVC</a:t>
            </a:r>
          </a:p>
        </p:txBody>
      </p:sp>
      <p:pic>
        <p:nvPicPr>
          <p:cNvPr id="5" name="Segnaposto contenuto 4" descr="Immagine che contiene testo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EA41D562-640E-2B78-4947-E36B33BCF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00" y="1927817"/>
            <a:ext cx="8762599" cy="466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19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127871F6-5228-AB41-39F7-74E16A617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" y="574431"/>
            <a:ext cx="6728541" cy="526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EDE30-5785-EADE-CE57-784CC0C73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F2329128-55BA-8D31-A820-03D962E65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C50695FB-B6AE-C41A-0939-9594A9AC5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DBAE1A83-2E02-7C43-B24A-FA3CEF52C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539C7B1-7D0A-4255-CE49-EC2CD771F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0206BF-9123-38FC-F106-048F95768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13F8536-69D8-6880-BAA9-214489134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198A5F-9277-95CD-7C25-65243AF83D0A}"/>
              </a:ext>
            </a:extLst>
          </p:cNvPr>
          <p:cNvSpPr txBox="1"/>
          <p:nvPr/>
        </p:nvSpPr>
        <p:spPr>
          <a:xfrm>
            <a:off x="6758529" y="112956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Il design pattern </a:t>
            </a:r>
            <a:r>
              <a:rPr lang="it-IT" b="1" dirty="0"/>
              <a:t>Adapter</a:t>
            </a:r>
            <a:r>
              <a:rPr lang="it-IT" dirty="0"/>
              <a:t> permette di convertire la risorsa testuale "</a:t>
            </a:r>
            <a:r>
              <a:rPr lang="it-IT" dirty="0" err="1"/>
              <a:t>moves.json</a:t>
            </a:r>
            <a:r>
              <a:rPr lang="it-IT" dirty="0"/>
              <a:t>" in una List&lt;</a:t>
            </a:r>
            <a:r>
              <a:rPr lang="it-IT" dirty="0" err="1"/>
              <a:t>Move</a:t>
            </a:r>
            <a:r>
              <a:rPr lang="it-IT" dirty="0"/>
              <a:t>&gt; tramite la classe </a:t>
            </a:r>
            <a:r>
              <a:rPr lang="it-IT" dirty="0" err="1"/>
              <a:t>MoveReader</a:t>
            </a:r>
            <a:r>
              <a:rPr lang="it-IT" dirty="0"/>
              <a:t> senza che il consumatore della List&lt;</a:t>
            </a:r>
            <a:r>
              <a:rPr lang="it-IT" dirty="0" err="1"/>
              <a:t>Move</a:t>
            </a:r>
            <a:r>
              <a:rPr lang="it-IT" dirty="0"/>
              <a:t>&gt; </a:t>
            </a:r>
            <a:br>
              <a:rPr lang="it-IT" dirty="0"/>
            </a:br>
            <a:r>
              <a:rPr lang="it-IT" dirty="0"/>
              <a:t>(</a:t>
            </a:r>
            <a:r>
              <a:rPr lang="it-IT" dirty="0" err="1"/>
              <a:t>MoveRegistry</a:t>
            </a:r>
            <a:r>
              <a:rPr lang="it-IT" dirty="0"/>
              <a:t>) ne conosca i dettagli implementativi.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it-IT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Abbiamo scelto di rappresentare </a:t>
            </a:r>
            <a:r>
              <a:rPr lang="it-IT" dirty="0" err="1"/>
              <a:t>MoveRegistry</a:t>
            </a:r>
            <a:r>
              <a:rPr lang="it-IT" dirty="0"/>
              <a:t> con un </a:t>
            </a:r>
            <a:r>
              <a:rPr lang="it-IT" b="1" dirty="0"/>
              <a:t>Singleton </a:t>
            </a:r>
            <a:r>
              <a:rPr lang="it-IT" dirty="0"/>
              <a:t>perché esso rappresenta un database di mosse che mappa una </a:t>
            </a:r>
            <a:r>
              <a:rPr lang="it-IT" i="1" dirty="0"/>
              <a:t>String</a:t>
            </a:r>
            <a:r>
              <a:rPr lang="it-IT" dirty="0"/>
              <a:t> alla rispettiva </a:t>
            </a:r>
            <a:r>
              <a:rPr lang="it-IT" i="1" dirty="0" err="1"/>
              <a:t>ActionStrategy</a:t>
            </a:r>
            <a:r>
              <a:rPr lang="it-IT" dirty="0"/>
              <a:t>, contenendo dunque un database di </a:t>
            </a:r>
            <a:r>
              <a:rPr lang="it-IT" i="1" dirty="0" err="1"/>
              <a:t>Move</a:t>
            </a:r>
            <a:r>
              <a:rPr lang="it-IT" dirty="0"/>
              <a:t> con le rispettive caratteristiche di esecuzione.</a:t>
            </a:r>
            <a:br>
              <a:rPr lang="it-IT" dirty="0">
                <a:solidFill>
                  <a:schemeClr val="tx2"/>
                </a:solidFill>
              </a:rPr>
            </a:br>
            <a:br>
              <a:rPr lang="it-IT" dirty="0"/>
            </a:br>
            <a:endParaRPr lang="it-IT" dirty="0">
              <a:solidFill>
                <a:schemeClr val="tx2"/>
              </a:solidFill>
            </a:endParaRP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9C4CE2B1-C621-F195-D978-AFCB2DA88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" y="607532"/>
            <a:ext cx="6728540" cy="538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975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5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60885D2-5313-3658-C310-D5E5774C8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b="1">
                <a:solidFill>
                  <a:schemeClr val="bg1">
                    <a:lumMod val="95000"/>
                    <a:lumOff val="5000"/>
                  </a:schemeClr>
                </a:solidFill>
              </a:rPr>
              <a:t>Second Sprint</a:t>
            </a:r>
          </a:p>
        </p:txBody>
      </p:sp>
    </p:spTree>
    <p:extLst>
      <p:ext uri="{BB962C8B-B14F-4D97-AF65-F5344CB8AC3E}">
        <p14:creationId xmlns:p14="http://schemas.microsoft.com/office/powerpoint/2010/main" val="1064313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D04-AC4A-DFF8-0417-61D9A6E2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3625D0-6DAF-31EA-D1DD-3D1A69DAB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59" y="675564"/>
            <a:ext cx="4698072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</a:t>
            </a:r>
            <a:r>
              <a:rPr lang="it-IT" dirty="0"/>
              <a:t>17-18</a:t>
            </a:r>
            <a:r>
              <a:rPr lang="it-IT" noProof="0" dirty="0"/>
              <a:t>:Select </a:t>
            </a:r>
            <a:r>
              <a:rPr lang="it-IT" dirty="0"/>
              <a:t>New </a:t>
            </a:r>
            <a:r>
              <a:rPr lang="it-IT" dirty="0" err="1"/>
              <a:t>Ability</a:t>
            </a:r>
            <a:r>
              <a:rPr lang="it-IT" dirty="0"/>
              <a:t> &amp; </a:t>
            </a:r>
            <a:r>
              <a:rPr lang="it-IT" noProof="0" dirty="0" err="1"/>
              <a:t>Character</a:t>
            </a:r>
            <a:r>
              <a:rPr lang="it-IT" noProof="0" dirty="0"/>
              <a:t> </a:t>
            </a:r>
            <a:r>
              <a:rPr lang="it-IT" noProof="0" dirty="0" err="1"/>
              <a:t>Evolution</a:t>
            </a:r>
            <a:br>
              <a:rPr lang="it-IT" b="1" noProof="0" dirty="0"/>
            </a:br>
            <a:endParaRPr lang="it-IT" noProof="0" dirty="0"/>
          </a:p>
        </p:txBody>
      </p: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2B332C55-B022-AEC3-DD7D-58DAB138C1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537050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707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E4D28EE-02E4-49D6-E9D8-1FC2CBBE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704691"/>
            <a:ext cx="4777381" cy="5278874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80CBB4-53A1-F4B5-CAF4-3176658E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628843"/>
            <a:ext cx="5458838" cy="41925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2400" dirty="0"/>
              <a:t>Le US sono implementate all’interno dello stesso contesto architetturale della US Combat System, riutilizzando il pattern Strategy. L’evoluzione del personaggio avviene tramite l’introduzione del metodo </a:t>
            </a:r>
            <a:r>
              <a:rPr lang="it-IT" sz="2400" b="1" dirty="0" err="1"/>
              <a:t>learnMove</a:t>
            </a:r>
            <a:r>
              <a:rPr lang="it-IT" sz="2400" b="1" dirty="0"/>
              <a:t>(</a:t>
            </a:r>
            <a:r>
              <a:rPr lang="it-IT" sz="2400" b="1" dirty="0" err="1"/>
              <a:t>Move</a:t>
            </a:r>
            <a:r>
              <a:rPr lang="it-IT" sz="2400" b="1" dirty="0"/>
              <a:t> </a:t>
            </a:r>
            <a:r>
              <a:rPr lang="it-IT" sz="2400" b="1" dirty="0" err="1"/>
              <a:t>move</a:t>
            </a:r>
            <a:r>
              <a:rPr lang="it-IT" sz="2400" b="1" dirty="0"/>
              <a:t>) </a:t>
            </a:r>
            <a:r>
              <a:rPr lang="it-IT" sz="2400" dirty="0"/>
              <a:t>nella classe player, che consente di apprendere dinamicamente nuove mosse durante il gioco. Le nuove mosse vengono integrate nell’insieme delle strategie disponibili, senza richiedere modifiche alle classi esistenti.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22286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2BF-B85B-0BD5-1838-9F25A45F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E1B5CC-3B4A-A1A8-2A97-9D9B9DA7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9</a:t>
            </a:r>
            <a:r>
              <a:rPr lang="it-IT" sz="4000" noProof="0" dirty="0">
                <a:solidFill>
                  <a:schemeClr val="tx2"/>
                </a:solidFill>
              </a:rPr>
              <a:t>:Manual </a:t>
            </a:r>
            <a:r>
              <a:rPr lang="it-IT" sz="4000" noProof="0" dirty="0" err="1">
                <a:solidFill>
                  <a:schemeClr val="tx2"/>
                </a:solidFill>
              </a:rPr>
              <a:t>save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into</a:t>
            </a:r>
            <a:r>
              <a:rPr lang="it-IT" sz="4000" noProof="0" dirty="0">
                <a:solidFill>
                  <a:schemeClr val="tx2"/>
                </a:solidFill>
              </a:rPr>
              <a:t> slot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2C0A4EA-F99D-CC16-34EE-FE3F7EDF7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3115791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8264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F78EA-1130-5423-9540-238E8C797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Memento?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85AA6A-9148-A913-5715-6F1AEAD4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/>
              <a:t>Pattern Memento</a:t>
            </a:r>
            <a:r>
              <a:rPr lang="it-IT" sz="2000" dirty="0"/>
              <a:t> è utilizzato per salvare e ripristinare lo stato del gioco senza violare l’incapsulamento di </a:t>
            </a:r>
            <a:r>
              <a:rPr lang="it-IT" sz="2000" b="1" dirty="0" err="1"/>
              <a:t>GameState</a:t>
            </a:r>
            <a:r>
              <a:rPr lang="it-IT" sz="2000" b="1" dirty="0"/>
              <a:t> (Originator, che contiene lo stato della partita)</a:t>
            </a:r>
            <a:r>
              <a:rPr lang="it-IT" sz="2000" dirty="0"/>
              <a:t>, mantenendo separata la logica di gioco dalla gestione dei salvataggi.</a:t>
            </a:r>
          </a:p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 err="1"/>
              <a:t>GameStateMemento</a:t>
            </a:r>
            <a:r>
              <a:rPr lang="it-IT" sz="2000" b="1" dirty="0"/>
              <a:t> (Memento)</a:t>
            </a:r>
            <a:r>
              <a:rPr lang="it-IT" sz="2000" dirty="0"/>
              <a:t> contiene uno snapshot dello stato ed è usato solo per salvataggio e ripristino. Il </a:t>
            </a:r>
            <a:r>
              <a:rPr lang="it-IT" sz="2000" b="1" dirty="0" err="1"/>
              <a:t>SaveManager</a:t>
            </a:r>
            <a:r>
              <a:rPr lang="it-IT" sz="2000" b="1" dirty="0"/>
              <a:t> (</a:t>
            </a:r>
            <a:r>
              <a:rPr lang="it-IT" sz="2000" b="1" dirty="0" err="1"/>
              <a:t>Caretaker</a:t>
            </a:r>
            <a:r>
              <a:rPr lang="it-IT" sz="2000" b="1" dirty="0"/>
              <a:t>) </a:t>
            </a:r>
            <a:r>
              <a:rPr lang="it-IT" sz="2000" dirty="0"/>
              <a:t>gestisce gli slot di salvataggio e si limita a conservare il Memento e richiedere </a:t>
            </a:r>
            <a:r>
              <a:rPr lang="it-IT" sz="2000"/>
              <a:t>il ripristino</a:t>
            </a:r>
            <a:endParaRPr lang="it-IT" sz="20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941B551-433A-D450-23E5-BAB716FB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092" y="970966"/>
            <a:ext cx="368456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875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B269-483F-0A8F-9E73-AF3D7A8E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3FF713-AD87-F5E0-7A6C-B3E0E2C21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10: </a:t>
            </a:r>
            <a:r>
              <a:rPr lang="it-IT" dirty="0"/>
              <a:t>Story </a:t>
            </a:r>
            <a:r>
              <a:rPr lang="it-IT" dirty="0" err="1"/>
              <a:t>choices</a:t>
            </a:r>
            <a:r>
              <a:rPr lang="it-IT" dirty="0"/>
              <a:t> </a:t>
            </a:r>
            <a:r>
              <a:rPr lang="it-IT" dirty="0" err="1"/>
              <a:t>influences</a:t>
            </a:r>
            <a:r>
              <a:rPr lang="it-IT" dirty="0"/>
              <a:t> future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F5777D71-228D-36A4-79EF-9ED78AEDE2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2898607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1268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18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5" name="Arc 20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Parallelo&#10;&#10;Il contenuto generato dall'IA potrebbe non essere corretto.">
            <a:extLst>
              <a:ext uri="{FF2B5EF4-FFF2-40B4-BE49-F238E27FC236}">
                <a16:creationId xmlns:a16="http://schemas.microsoft.com/office/drawing/2014/main" id="{B3F9794F-3C7B-F269-80DF-72D2D5C8F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30" y="511293"/>
            <a:ext cx="4631685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0DB975-713B-2D11-A72E-EF6830337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disposti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struttura</a:t>
            </a:r>
            <a:r>
              <a:rPr lang="en-US" dirty="0"/>
              <a:t> a </a:t>
            </a:r>
            <a:r>
              <a:rPr lang="en-US" dirty="0" err="1"/>
              <a:t>grafo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risorsa</a:t>
            </a:r>
            <a:r>
              <a:rPr lang="en-US" dirty="0"/>
              <a:t> </a:t>
            </a:r>
            <a:r>
              <a:rPr lang="en-US" dirty="0" err="1"/>
              <a:t>testuale</a:t>
            </a:r>
            <a:r>
              <a:rPr lang="en-US" dirty="0"/>
              <a:t> "</a:t>
            </a:r>
            <a:r>
              <a:rPr lang="en-US" dirty="0" err="1"/>
              <a:t>dialogues.json</a:t>
            </a:r>
            <a:r>
              <a:rPr lang="en-US" dirty="0"/>
              <a:t>".</a:t>
            </a:r>
            <a:br>
              <a:rPr lang="en-US" dirty="0"/>
            </a:br>
            <a:r>
              <a:rPr lang="en-US" dirty="0"/>
              <a:t>Data la </a:t>
            </a:r>
            <a:r>
              <a:rPr lang="en-US" dirty="0" err="1"/>
              <a:t>complessità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foglia</a:t>
            </a:r>
            <a:r>
              <a:rPr lang="en-US" dirty="0"/>
              <a:t> del </a:t>
            </a:r>
            <a:r>
              <a:rPr lang="en-US" dirty="0" err="1"/>
              <a:t>grafo</a:t>
            </a:r>
            <a:r>
              <a:rPr lang="en-US" dirty="0"/>
              <a:t> (uno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appunto</a:t>
            </a:r>
            <a:r>
              <a:rPr lang="en-US" dirty="0"/>
              <a:t>) </a:t>
            </a:r>
            <a:r>
              <a:rPr lang="en-US" dirty="0" err="1"/>
              <a:t>utilizziamo</a:t>
            </a:r>
            <a:r>
              <a:rPr lang="en-US" dirty="0"/>
              <a:t> il design pattern </a:t>
            </a:r>
            <a:r>
              <a:rPr lang="en-US" b="1" dirty="0"/>
              <a:t>Builder </a:t>
            </a:r>
            <a:r>
              <a:rPr lang="en-US" dirty="0"/>
              <a:t>per </a:t>
            </a:r>
            <a:r>
              <a:rPr lang="en-US" dirty="0" err="1"/>
              <a:t>istanziare</a:t>
            </a:r>
            <a:r>
              <a:rPr lang="en-US" dirty="0"/>
              <a:t> </a:t>
            </a:r>
            <a:r>
              <a:rPr lang="en-US" dirty="0" err="1"/>
              <a:t>agevolmente</a:t>
            </a:r>
            <a:r>
              <a:rPr lang="en-US" dirty="0"/>
              <a:t> un </a:t>
            </a:r>
            <a:r>
              <a:rPr lang="en-US" dirty="0" err="1"/>
              <a:t>oggetto</a:t>
            </a:r>
            <a:r>
              <a:rPr lang="en-US" dirty="0"/>
              <a:t> di </a:t>
            </a:r>
            <a:r>
              <a:rPr lang="en-US" dirty="0" err="1"/>
              <a:t>tipo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20598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 descr="Immagine che contiene diagramma, testo, Piano, schermata&#10;&#10;Il contenuto generato dall&amp;#39;IA potrebbe non essere corretto.">
            <a:extLst>
              <a:ext uri="{FF2B5EF4-FFF2-40B4-BE49-F238E27FC236}">
                <a16:creationId xmlns:a16="http://schemas.microsoft.com/office/drawing/2014/main" id="{36861820-3929-5A05-0788-2A08877F7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035" y="0"/>
            <a:ext cx="80099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3863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1825</Words>
  <Application>Microsoft Office PowerPoint</Application>
  <PresentationFormat>Widescreen</PresentationFormat>
  <Paragraphs>98</Paragraphs>
  <Slides>34</Slides>
  <Notes>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34</vt:i4>
      </vt:variant>
    </vt:vector>
  </HeadingPairs>
  <TitlesOfParts>
    <vt:vector size="35" baseType="lpstr">
      <vt:lpstr>Tema di Office</vt:lpstr>
      <vt:lpstr>The Cycle Game</vt:lpstr>
      <vt:lpstr>First Sprint</vt:lpstr>
      <vt:lpstr>Trama</vt:lpstr>
      <vt:lpstr>MVC Architecture</vt:lpstr>
      <vt:lpstr>Presentazione standard di PowerPoint</vt:lpstr>
      <vt:lpstr>View</vt:lpstr>
      <vt:lpstr>Controller</vt:lpstr>
      <vt:lpstr>Il Nostro MVC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Presentazione standard di PowerPoint</vt:lpstr>
      <vt:lpstr>Second Sprint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  <vt:lpstr>User Story 17-18:Select New Ability &amp; Character Evolution </vt:lpstr>
      <vt:lpstr>Presentazione standard di PowerPoint</vt:lpstr>
      <vt:lpstr>User Story 9:Manual save into slot</vt:lpstr>
      <vt:lpstr>Perché Memento?</vt:lpstr>
      <vt:lpstr>User Story 10: Story choices influences future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110</cp:revision>
  <dcterms:created xsi:type="dcterms:W3CDTF">2025-12-01T14:20:48Z</dcterms:created>
  <dcterms:modified xsi:type="dcterms:W3CDTF">2026-01-15T01:57:01Z</dcterms:modified>
</cp:coreProperties>
</file>