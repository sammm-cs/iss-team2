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88" r:id="rId3"/>
    <p:sldId id="268" r:id="rId4"/>
    <p:sldId id="257" r:id="rId5"/>
    <p:sldId id="270" r:id="rId6"/>
    <p:sldId id="271" r:id="rId7"/>
    <p:sldId id="272" r:id="rId8"/>
    <p:sldId id="289" r:id="rId9"/>
    <p:sldId id="273" r:id="rId10"/>
    <p:sldId id="258" r:id="rId11"/>
    <p:sldId id="259" r:id="rId12"/>
    <p:sldId id="265" r:id="rId13"/>
    <p:sldId id="261" r:id="rId14"/>
    <p:sldId id="260" r:id="rId15"/>
    <p:sldId id="266" r:id="rId16"/>
    <p:sldId id="262" r:id="rId17"/>
    <p:sldId id="267" r:id="rId18"/>
    <p:sldId id="263" r:id="rId19"/>
    <p:sldId id="264" r:id="rId20"/>
    <p:sldId id="293" r:id="rId21"/>
    <p:sldId id="290" r:id="rId22"/>
    <p:sldId id="277" r:id="rId23"/>
    <p:sldId id="278" r:id="rId24"/>
    <p:sldId id="279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91" r:id="rId33"/>
    <p:sldId id="292" r:id="rId3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7BDD47-18D7-7065-F2A0-0E6FFB60B541}" v="864" dt="2026-01-13T12:33:59.746"/>
    <p1510:client id="{95D87242-DA9F-4025-94DB-BFB2745B9DCD}" v="42" dt="2026-01-13T09:09:57.0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6D5EA1-92A0-4C04-85F7-02B0A140CC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C77409D-2A45-4747-80F5-4F09D17D165A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launch</a:t>
          </a:r>
          <a:r>
            <a:rPr lang="it-IT" noProof="0" dirty="0"/>
            <a:t> the game and access the </a:t>
          </a:r>
          <a:r>
            <a:rPr lang="it-IT" noProof="0" dirty="0" err="1"/>
            <a:t>main</a:t>
          </a:r>
          <a:r>
            <a:rPr lang="it-IT" noProof="0" dirty="0"/>
            <a:t> menu,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choose</a:t>
          </a:r>
          <a:r>
            <a:rPr lang="it-IT" noProof="0" dirty="0"/>
            <a:t> to start, continue, or </a:t>
          </a:r>
          <a:r>
            <a:rPr lang="it-IT" noProof="0" dirty="0" err="1"/>
            <a:t>configure</a:t>
          </a:r>
          <a:r>
            <a:rPr lang="it-IT" noProof="0" dirty="0"/>
            <a:t> </a:t>
          </a:r>
          <a:r>
            <a:rPr lang="it-IT" noProof="0" dirty="0" err="1"/>
            <a:t>my</a:t>
          </a:r>
          <a:r>
            <a:rPr lang="it-IT" noProof="0" dirty="0"/>
            <a:t> game.</a:t>
          </a:r>
        </a:p>
      </dgm:t>
    </dgm:pt>
    <dgm:pt modelId="{84874FA6-4B72-4F28-821B-1B0AEB01210F}" type="parTrans" cxnId="{D7C55F6B-D9DE-42DE-8647-4F200CAAAF11}">
      <dgm:prSet/>
      <dgm:spPr/>
      <dgm:t>
        <a:bodyPr/>
        <a:lstStyle/>
        <a:p>
          <a:endParaRPr lang="en-US"/>
        </a:p>
      </dgm:t>
    </dgm:pt>
    <dgm:pt modelId="{6F59D428-A053-4877-A579-3999D53F9383}" type="sibTrans" cxnId="{D7C55F6B-D9DE-42DE-8647-4F200CAAAF11}">
      <dgm:prSet/>
      <dgm:spPr/>
      <dgm:t>
        <a:bodyPr/>
        <a:lstStyle/>
        <a:p>
          <a:endParaRPr lang="en-US"/>
        </a:p>
      </dgm:t>
    </dgm:pt>
    <dgm:pt modelId="{1C5448A4-01BE-4DA0-8921-7DAB86F14B62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launches</a:t>
          </a:r>
          <a:r>
            <a:rPr lang="it-IT" noProof="0" dirty="0"/>
            <a:t> and the </a:t>
          </a:r>
          <a:r>
            <a:rPr lang="it-IT" noProof="0" dirty="0" err="1"/>
            <a:t>main</a:t>
          </a:r>
          <a:r>
            <a:rPr lang="it-IT" noProof="0" dirty="0"/>
            <a:t> menu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showed</a:t>
          </a:r>
          <a:r>
            <a:rPr lang="it-IT" noProof="0" dirty="0"/>
            <a:t>.</a:t>
          </a:r>
        </a:p>
      </dgm:t>
    </dgm:pt>
    <dgm:pt modelId="{ACB1A1F1-CB3D-4B92-B436-390BE660AEA9}" type="parTrans" cxnId="{836F3560-3CCF-4C70-A779-665C8AFD5D70}">
      <dgm:prSet/>
      <dgm:spPr/>
      <dgm:t>
        <a:bodyPr/>
        <a:lstStyle/>
        <a:p>
          <a:endParaRPr lang="en-US"/>
        </a:p>
      </dgm:t>
    </dgm:pt>
    <dgm:pt modelId="{969F6EAE-D01A-429E-ACE7-A207A8EA9503}" type="sibTrans" cxnId="{836F3560-3CCF-4C70-A779-665C8AFD5D70}">
      <dgm:prSet/>
      <dgm:spPr/>
      <dgm:t>
        <a:bodyPr/>
        <a:lstStyle/>
        <a:p>
          <a:endParaRPr lang="en-US"/>
        </a:p>
      </dgm:t>
    </dgm:pt>
    <dgm:pt modelId="{065D15A9-D6A6-4C6B-82EC-6B9572E12772}">
      <dgm:prSet/>
      <dgm:spPr/>
      <dgm:t>
        <a:bodyPr/>
        <a:lstStyle/>
        <a:p>
          <a:r>
            <a:rPr lang="it-IT" noProof="0" dirty="0"/>
            <a:t>Pattern: Singleton</a:t>
          </a:r>
        </a:p>
      </dgm:t>
    </dgm:pt>
    <dgm:pt modelId="{9A8DF52F-B4F4-4E4A-9A5F-06D323C91966}" type="parTrans" cxnId="{5DC5F5AD-1C4E-4565-8547-2F59A97FDBCB}">
      <dgm:prSet/>
      <dgm:spPr/>
      <dgm:t>
        <a:bodyPr/>
        <a:lstStyle/>
        <a:p>
          <a:endParaRPr lang="en-US"/>
        </a:p>
      </dgm:t>
    </dgm:pt>
    <dgm:pt modelId="{E64E4DC4-712F-430B-AFE3-A3AB2B15D6D8}" type="sibTrans" cxnId="{5DC5F5AD-1C4E-4565-8547-2F59A97FDBCB}">
      <dgm:prSet/>
      <dgm:spPr/>
      <dgm:t>
        <a:bodyPr/>
        <a:lstStyle/>
        <a:p>
          <a:endParaRPr lang="en-US"/>
        </a:p>
      </dgm:t>
    </dgm:pt>
    <dgm:pt modelId="{88657575-595B-481C-9CC8-6862E9E5FB86}" type="pres">
      <dgm:prSet presAssocID="{946D5EA1-92A0-4C04-85F7-02B0A140CCDA}" presName="root" presStyleCnt="0">
        <dgm:presLayoutVars>
          <dgm:dir/>
          <dgm:resizeHandles val="exact"/>
        </dgm:presLayoutVars>
      </dgm:prSet>
      <dgm:spPr/>
    </dgm:pt>
    <dgm:pt modelId="{4BA2CD32-1C44-4773-81A7-C0D4E61A5AB7}" type="pres">
      <dgm:prSet presAssocID="{9C77409D-2A45-4747-80F5-4F09D17D165A}" presName="compNode" presStyleCnt="0"/>
      <dgm:spPr/>
    </dgm:pt>
    <dgm:pt modelId="{6FDB1E62-1B90-4700-89FA-10C01D129410}" type="pres">
      <dgm:prSet presAssocID="{9C77409D-2A45-4747-80F5-4F09D17D165A}" presName="bgRect" presStyleLbl="bgShp" presStyleIdx="0" presStyleCnt="3"/>
      <dgm:spPr/>
    </dgm:pt>
    <dgm:pt modelId="{A6AC1CE1-F139-45AE-9F5D-FDEBBDE6CBBE}" type="pres">
      <dgm:prSet presAssocID="{9C77409D-2A45-4747-80F5-4F09D17D165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o di giochi"/>
        </a:ext>
      </dgm:extLst>
    </dgm:pt>
    <dgm:pt modelId="{DDDAE86C-A01C-4A66-9E51-49C9C02DECED}" type="pres">
      <dgm:prSet presAssocID="{9C77409D-2A45-4747-80F5-4F09D17D165A}" presName="spaceRect" presStyleCnt="0"/>
      <dgm:spPr/>
    </dgm:pt>
    <dgm:pt modelId="{99B845FB-01CC-4EB6-92E4-8480887060B0}" type="pres">
      <dgm:prSet presAssocID="{9C77409D-2A45-4747-80F5-4F09D17D165A}" presName="parTx" presStyleLbl="revTx" presStyleIdx="0" presStyleCnt="3">
        <dgm:presLayoutVars>
          <dgm:chMax val="0"/>
          <dgm:chPref val="0"/>
        </dgm:presLayoutVars>
      </dgm:prSet>
      <dgm:spPr/>
    </dgm:pt>
    <dgm:pt modelId="{F6CD65D6-94E3-4B7C-ADDB-6B1CC9B32BAF}" type="pres">
      <dgm:prSet presAssocID="{6F59D428-A053-4877-A579-3999D53F9383}" presName="sibTrans" presStyleCnt="0"/>
      <dgm:spPr/>
    </dgm:pt>
    <dgm:pt modelId="{63B75DB3-5E78-47C9-A211-A507B8AB567C}" type="pres">
      <dgm:prSet presAssocID="{1C5448A4-01BE-4DA0-8921-7DAB86F14B62}" presName="compNode" presStyleCnt="0"/>
      <dgm:spPr/>
    </dgm:pt>
    <dgm:pt modelId="{0C439C05-E3DA-4022-BC99-642E8E3EE121}" type="pres">
      <dgm:prSet presAssocID="{1C5448A4-01BE-4DA0-8921-7DAB86F14B62}" presName="bgRect" presStyleLbl="bgShp" presStyleIdx="1" presStyleCnt="3"/>
      <dgm:spPr/>
    </dgm:pt>
    <dgm:pt modelId="{E0B68A32-64BA-4C70-A040-1835F6AF5808}" type="pres">
      <dgm:prSet presAssocID="{1C5448A4-01BE-4DA0-8921-7DAB86F14B6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628E848-6154-4057-BAE6-5FEC041E8992}" type="pres">
      <dgm:prSet presAssocID="{1C5448A4-01BE-4DA0-8921-7DAB86F14B62}" presName="spaceRect" presStyleCnt="0"/>
      <dgm:spPr/>
    </dgm:pt>
    <dgm:pt modelId="{65DD3097-3472-41AD-A195-4BC459963CDF}" type="pres">
      <dgm:prSet presAssocID="{1C5448A4-01BE-4DA0-8921-7DAB86F14B62}" presName="parTx" presStyleLbl="revTx" presStyleIdx="1" presStyleCnt="3">
        <dgm:presLayoutVars>
          <dgm:chMax val="0"/>
          <dgm:chPref val="0"/>
        </dgm:presLayoutVars>
      </dgm:prSet>
      <dgm:spPr/>
    </dgm:pt>
    <dgm:pt modelId="{0B4A8BDD-AFFD-43A1-BF7A-1227EB35EB97}" type="pres">
      <dgm:prSet presAssocID="{969F6EAE-D01A-429E-ACE7-A207A8EA9503}" presName="sibTrans" presStyleCnt="0"/>
      <dgm:spPr/>
    </dgm:pt>
    <dgm:pt modelId="{7CC717E7-44A6-4168-A3B6-BB0D56CC22DC}" type="pres">
      <dgm:prSet presAssocID="{065D15A9-D6A6-4C6B-82EC-6B9572E12772}" presName="compNode" presStyleCnt="0"/>
      <dgm:spPr/>
    </dgm:pt>
    <dgm:pt modelId="{1F1F13AC-1B21-4549-9290-145AE0D49428}" type="pres">
      <dgm:prSet presAssocID="{065D15A9-D6A6-4C6B-82EC-6B9572E12772}" presName="bgRect" presStyleLbl="bgShp" presStyleIdx="2" presStyleCnt="3"/>
      <dgm:spPr/>
    </dgm:pt>
    <dgm:pt modelId="{39CC5301-C3D4-4693-AF87-8D01706211DC}" type="pres">
      <dgm:prSet presAssocID="{065D15A9-D6A6-4C6B-82EC-6B9572E1277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ma di flusso"/>
        </a:ext>
      </dgm:extLst>
    </dgm:pt>
    <dgm:pt modelId="{FCC832A1-11EA-46F6-8D8D-C7E1DF2E62EB}" type="pres">
      <dgm:prSet presAssocID="{065D15A9-D6A6-4C6B-82EC-6B9572E12772}" presName="spaceRect" presStyleCnt="0"/>
      <dgm:spPr/>
    </dgm:pt>
    <dgm:pt modelId="{4B812115-F87A-435D-8B0E-36F24BA800BA}" type="pres">
      <dgm:prSet presAssocID="{065D15A9-D6A6-4C6B-82EC-6B9572E12772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15BD707-D914-4920-80D0-6E07A9423560}" type="presOf" srcId="{9C77409D-2A45-4747-80F5-4F09D17D165A}" destId="{99B845FB-01CC-4EB6-92E4-8480887060B0}" srcOrd="0" destOrd="0" presId="urn:microsoft.com/office/officeart/2018/2/layout/IconVerticalSolidList"/>
    <dgm:cxn modelId="{5D5AD11F-98AC-4C1B-B3CD-9EAE840812FA}" type="presOf" srcId="{946D5EA1-92A0-4C04-85F7-02B0A140CCDA}" destId="{88657575-595B-481C-9CC8-6862E9E5FB86}" srcOrd="0" destOrd="0" presId="urn:microsoft.com/office/officeart/2018/2/layout/IconVerticalSolidList"/>
    <dgm:cxn modelId="{1E5DC838-ADFF-41B1-9B27-22BF0AB57265}" type="presOf" srcId="{065D15A9-D6A6-4C6B-82EC-6B9572E12772}" destId="{4B812115-F87A-435D-8B0E-36F24BA800BA}" srcOrd="0" destOrd="0" presId="urn:microsoft.com/office/officeart/2018/2/layout/IconVerticalSolidList"/>
    <dgm:cxn modelId="{836F3560-3CCF-4C70-A779-665C8AFD5D70}" srcId="{946D5EA1-92A0-4C04-85F7-02B0A140CCDA}" destId="{1C5448A4-01BE-4DA0-8921-7DAB86F14B62}" srcOrd="1" destOrd="0" parTransId="{ACB1A1F1-CB3D-4B92-B436-390BE660AEA9}" sibTransId="{969F6EAE-D01A-429E-ACE7-A207A8EA9503}"/>
    <dgm:cxn modelId="{D7C55F6B-D9DE-42DE-8647-4F200CAAAF11}" srcId="{946D5EA1-92A0-4C04-85F7-02B0A140CCDA}" destId="{9C77409D-2A45-4747-80F5-4F09D17D165A}" srcOrd="0" destOrd="0" parTransId="{84874FA6-4B72-4F28-821B-1B0AEB01210F}" sibTransId="{6F59D428-A053-4877-A579-3999D53F9383}"/>
    <dgm:cxn modelId="{5DC5F5AD-1C4E-4565-8547-2F59A97FDBCB}" srcId="{946D5EA1-92A0-4C04-85F7-02B0A140CCDA}" destId="{065D15A9-D6A6-4C6B-82EC-6B9572E12772}" srcOrd="2" destOrd="0" parTransId="{9A8DF52F-B4F4-4E4A-9A5F-06D323C91966}" sibTransId="{E64E4DC4-712F-430B-AFE3-A3AB2B15D6D8}"/>
    <dgm:cxn modelId="{10AE43BD-BA60-4485-9149-6BE690A3A98C}" type="presOf" srcId="{1C5448A4-01BE-4DA0-8921-7DAB86F14B62}" destId="{65DD3097-3472-41AD-A195-4BC459963CDF}" srcOrd="0" destOrd="0" presId="urn:microsoft.com/office/officeart/2018/2/layout/IconVerticalSolidList"/>
    <dgm:cxn modelId="{3B83AFCF-82B2-48B8-A534-81950152DB4B}" type="presParOf" srcId="{88657575-595B-481C-9CC8-6862E9E5FB86}" destId="{4BA2CD32-1C44-4773-81A7-C0D4E61A5AB7}" srcOrd="0" destOrd="0" presId="urn:microsoft.com/office/officeart/2018/2/layout/IconVerticalSolidList"/>
    <dgm:cxn modelId="{4BA0D3D2-EB85-4F64-9126-B35F0E8AB721}" type="presParOf" srcId="{4BA2CD32-1C44-4773-81A7-C0D4E61A5AB7}" destId="{6FDB1E62-1B90-4700-89FA-10C01D129410}" srcOrd="0" destOrd="0" presId="urn:microsoft.com/office/officeart/2018/2/layout/IconVerticalSolidList"/>
    <dgm:cxn modelId="{FA45A2D8-7003-4C68-AF16-C0B9E01ED5C5}" type="presParOf" srcId="{4BA2CD32-1C44-4773-81A7-C0D4E61A5AB7}" destId="{A6AC1CE1-F139-45AE-9F5D-FDEBBDE6CBBE}" srcOrd="1" destOrd="0" presId="urn:microsoft.com/office/officeart/2018/2/layout/IconVerticalSolidList"/>
    <dgm:cxn modelId="{326042B0-B973-49CC-A917-6512BA9840EA}" type="presParOf" srcId="{4BA2CD32-1C44-4773-81A7-C0D4E61A5AB7}" destId="{DDDAE86C-A01C-4A66-9E51-49C9C02DECED}" srcOrd="2" destOrd="0" presId="urn:microsoft.com/office/officeart/2018/2/layout/IconVerticalSolidList"/>
    <dgm:cxn modelId="{7DF0276B-B6B2-4B10-9C5E-87449705FB17}" type="presParOf" srcId="{4BA2CD32-1C44-4773-81A7-C0D4E61A5AB7}" destId="{99B845FB-01CC-4EB6-92E4-8480887060B0}" srcOrd="3" destOrd="0" presId="urn:microsoft.com/office/officeart/2018/2/layout/IconVerticalSolidList"/>
    <dgm:cxn modelId="{870061DF-71AD-41B4-9FFF-635691245C53}" type="presParOf" srcId="{88657575-595B-481C-9CC8-6862E9E5FB86}" destId="{F6CD65D6-94E3-4B7C-ADDB-6B1CC9B32BAF}" srcOrd="1" destOrd="0" presId="urn:microsoft.com/office/officeart/2018/2/layout/IconVerticalSolidList"/>
    <dgm:cxn modelId="{96B977D3-5E39-4A49-A1BB-1F7553B1A1DF}" type="presParOf" srcId="{88657575-595B-481C-9CC8-6862E9E5FB86}" destId="{63B75DB3-5E78-47C9-A211-A507B8AB567C}" srcOrd="2" destOrd="0" presId="urn:microsoft.com/office/officeart/2018/2/layout/IconVerticalSolidList"/>
    <dgm:cxn modelId="{6198DD59-FF70-4B5E-9B4A-6CFCC1EBACE1}" type="presParOf" srcId="{63B75DB3-5E78-47C9-A211-A507B8AB567C}" destId="{0C439C05-E3DA-4022-BC99-642E8E3EE121}" srcOrd="0" destOrd="0" presId="urn:microsoft.com/office/officeart/2018/2/layout/IconVerticalSolidList"/>
    <dgm:cxn modelId="{EB123D3A-6618-4E73-BB25-192836A76396}" type="presParOf" srcId="{63B75DB3-5E78-47C9-A211-A507B8AB567C}" destId="{E0B68A32-64BA-4C70-A040-1835F6AF5808}" srcOrd="1" destOrd="0" presId="urn:microsoft.com/office/officeart/2018/2/layout/IconVerticalSolidList"/>
    <dgm:cxn modelId="{B247FB85-45D2-4742-8D87-156E80EDD098}" type="presParOf" srcId="{63B75DB3-5E78-47C9-A211-A507B8AB567C}" destId="{C628E848-6154-4057-BAE6-5FEC041E8992}" srcOrd="2" destOrd="0" presId="urn:microsoft.com/office/officeart/2018/2/layout/IconVerticalSolidList"/>
    <dgm:cxn modelId="{74474198-1A92-4E86-B07F-32C68A229709}" type="presParOf" srcId="{63B75DB3-5E78-47C9-A211-A507B8AB567C}" destId="{65DD3097-3472-41AD-A195-4BC459963CDF}" srcOrd="3" destOrd="0" presId="urn:microsoft.com/office/officeart/2018/2/layout/IconVerticalSolidList"/>
    <dgm:cxn modelId="{E3B85250-3719-4CA3-A949-D2363F7D8BE7}" type="presParOf" srcId="{88657575-595B-481C-9CC8-6862E9E5FB86}" destId="{0B4A8BDD-AFFD-43A1-BF7A-1227EB35EB97}" srcOrd="3" destOrd="0" presId="urn:microsoft.com/office/officeart/2018/2/layout/IconVerticalSolidList"/>
    <dgm:cxn modelId="{16304F74-B7D6-4D61-AD6F-DC1BB4832E77}" type="presParOf" srcId="{88657575-595B-481C-9CC8-6862E9E5FB86}" destId="{7CC717E7-44A6-4168-A3B6-BB0D56CC22DC}" srcOrd="4" destOrd="0" presId="urn:microsoft.com/office/officeart/2018/2/layout/IconVerticalSolidList"/>
    <dgm:cxn modelId="{B12F8891-F090-4917-BE69-C2B8D16A0401}" type="presParOf" srcId="{7CC717E7-44A6-4168-A3B6-BB0D56CC22DC}" destId="{1F1F13AC-1B21-4549-9290-145AE0D49428}" srcOrd="0" destOrd="0" presId="urn:microsoft.com/office/officeart/2018/2/layout/IconVerticalSolidList"/>
    <dgm:cxn modelId="{EE75F0EA-C8DD-48D2-80DB-03CFFFE4BA2F}" type="presParOf" srcId="{7CC717E7-44A6-4168-A3B6-BB0D56CC22DC}" destId="{39CC5301-C3D4-4693-AF87-8D01706211DC}" srcOrd="1" destOrd="0" presId="urn:microsoft.com/office/officeart/2018/2/layout/IconVerticalSolidList"/>
    <dgm:cxn modelId="{3D0820FB-F112-48A9-B3F5-A32F3FAD9EE8}" type="presParOf" srcId="{7CC717E7-44A6-4168-A3B6-BB0D56CC22DC}" destId="{FCC832A1-11EA-46F6-8D8D-C7E1DF2E62EB}" srcOrd="2" destOrd="0" presId="urn:microsoft.com/office/officeart/2018/2/layout/IconVerticalSolidList"/>
    <dgm:cxn modelId="{0F5F405F-3CA1-476F-A9EA-A3F5FC724061}" type="presParOf" srcId="{7CC717E7-44A6-4168-A3B6-BB0D56CC22DC}" destId="{4B812115-F87A-435D-8B0E-36F24BA800B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90456B-5567-4451-89C5-28E54F75B212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21723C4-A1FE-4474-B0E2-4A710F2AFF9C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start a new game, so </a:t>
          </a:r>
          <a:r>
            <a:rPr lang="it-IT" noProof="0" dirty="0" err="1"/>
            <a:t>that</a:t>
          </a:r>
          <a:r>
            <a:rPr lang="it-IT" noProof="0" dirty="0"/>
            <a:t> I can play</a:t>
          </a:r>
        </a:p>
      </dgm:t>
    </dgm:pt>
    <dgm:pt modelId="{55C62C27-B8DF-40C1-A4D9-341FB8A1D546}" type="parTrans" cxnId="{2B06C0EA-5DAD-46FF-8DE4-19FD045D039C}">
      <dgm:prSet/>
      <dgm:spPr/>
      <dgm:t>
        <a:bodyPr/>
        <a:lstStyle/>
        <a:p>
          <a:endParaRPr lang="en-US"/>
        </a:p>
      </dgm:t>
    </dgm:pt>
    <dgm:pt modelId="{6280223A-C949-4DD1-AB7F-1EBA34D493B2}" type="sibTrans" cxnId="{2B06C0EA-5DAD-46FF-8DE4-19FD045D039C}">
      <dgm:prSet/>
      <dgm:spPr/>
      <dgm:t>
        <a:bodyPr/>
        <a:lstStyle/>
        <a:p>
          <a:endParaRPr lang="en-US"/>
        </a:p>
      </dgm:t>
    </dgm:pt>
    <dgm:pt modelId="{CCA945C6-112E-4B01-B960-AD52987CA83E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starts from the </a:t>
          </a:r>
          <a:r>
            <a:rPr lang="it-IT" noProof="0" dirty="0" err="1"/>
            <a:t>beginning</a:t>
          </a:r>
          <a:endParaRPr lang="it-IT" noProof="0" dirty="0"/>
        </a:p>
      </dgm:t>
    </dgm:pt>
    <dgm:pt modelId="{1EEE39DF-20D4-4EE8-8CCE-61080555730A}" type="parTrans" cxnId="{36ACF0BA-E47E-4F9F-9F76-B257294C574F}">
      <dgm:prSet/>
      <dgm:spPr/>
      <dgm:t>
        <a:bodyPr/>
        <a:lstStyle/>
        <a:p>
          <a:endParaRPr lang="en-US"/>
        </a:p>
      </dgm:t>
    </dgm:pt>
    <dgm:pt modelId="{7E3CFBF9-A114-415B-8E67-D868B685A910}" type="sibTrans" cxnId="{36ACF0BA-E47E-4F9F-9F76-B257294C574F}">
      <dgm:prSet/>
      <dgm:spPr/>
      <dgm:t>
        <a:bodyPr/>
        <a:lstStyle/>
        <a:p>
          <a:endParaRPr lang="en-US"/>
        </a:p>
      </dgm:t>
    </dgm:pt>
    <dgm:pt modelId="{B78E3C81-7C14-4879-B50A-9BD8EA4C4D32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Factory</a:t>
          </a:r>
        </a:p>
      </dgm:t>
    </dgm:pt>
    <dgm:pt modelId="{434CE34D-AB4D-4EEA-ACC7-94F860C5B804}" type="parTrans" cxnId="{5FB9A59F-3BEF-4710-AED5-AD29028C683B}">
      <dgm:prSet/>
      <dgm:spPr/>
      <dgm:t>
        <a:bodyPr/>
        <a:lstStyle/>
        <a:p>
          <a:endParaRPr lang="en-US"/>
        </a:p>
      </dgm:t>
    </dgm:pt>
    <dgm:pt modelId="{2708C895-D059-4CBE-ADDC-8B6D71E54E82}" type="sibTrans" cxnId="{5FB9A59F-3BEF-4710-AED5-AD29028C683B}">
      <dgm:prSet/>
      <dgm:spPr/>
      <dgm:t>
        <a:bodyPr/>
        <a:lstStyle/>
        <a:p>
          <a:endParaRPr lang="en-US"/>
        </a:p>
      </dgm:t>
    </dgm:pt>
    <dgm:pt modelId="{DD771F0B-4186-46CE-98B5-1B03C499B17E}" type="pres">
      <dgm:prSet presAssocID="{B390456B-5567-4451-89C5-28E54F75B212}" presName="root" presStyleCnt="0">
        <dgm:presLayoutVars>
          <dgm:dir/>
          <dgm:resizeHandles val="exact"/>
        </dgm:presLayoutVars>
      </dgm:prSet>
      <dgm:spPr/>
    </dgm:pt>
    <dgm:pt modelId="{87A3769B-EAA4-42A8-BCD4-970472913D1F}" type="pres">
      <dgm:prSet presAssocID="{F21723C4-A1FE-4474-B0E2-4A710F2AFF9C}" presName="compNode" presStyleCnt="0"/>
      <dgm:spPr/>
    </dgm:pt>
    <dgm:pt modelId="{48CC5DE0-44F3-4E94-819A-748039762D47}" type="pres">
      <dgm:prSet presAssocID="{F21723C4-A1FE-4474-B0E2-4A710F2AFF9C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3375A17-FA0A-4C0C-95A1-C8FCEA4F9B5C}" type="pres">
      <dgm:prSet presAssocID="{F21723C4-A1FE-4474-B0E2-4A710F2AFF9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 tennis"/>
        </a:ext>
      </dgm:extLst>
    </dgm:pt>
    <dgm:pt modelId="{F5C871FC-64FF-4CCC-B40E-75B650981D00}" type="pres">
      <dgm:prSet presAssocID="{F21723C4-A1FE-4474-B0E2-4A710F2AFF9C}" presName="spaceRect" presStyleCnt="0"/>
      <dgm:spPr/>
    </dgm:pt>
    <dgm:pt modelId="{90273D12-DA4D-48EE-AA96-FC673DE14FCD}" type="pres">
      <dgm:prSet presAssocID="{F21723C4-A1FE-4474-B0E2-4A710F2AFF9C}" presName="textRect" presStyleLbl="revTx" presStyleIdx="0" presStyleCnt="3">
        <dgm:presLayoutVars>
          <dgm:chMax val="1"/>
          <dgm:chPref val="1"/>
        </dgm:presLayoutVars>
      </dgm:prSet>
      <dgm:spPr/>
    </dgm:pt>
    <dgm:pt modelId="{9D074873-AD6F-4AED-A659-042E368569DB}" type="pres">
      <dgm:prSet presAssocID="{6280223A-C949-4DD1-AB7F-1EBA34D493B2}" presName="sibTrans" presStyleCnt="0"/>
      <dgm:spPr/>
    </dgm:pt>
    <dgm:pt modelId="{8D663FA8-A62A-4EB2-B9D1-A0CD157B0D02}" type="pres">
      <dgm:prSet presAssocID="{CCA945C6-112E-4B01-B960-AD52987CA83E}" presName="compNode" presStyleCnt="0"/>
      <dgm:spPr/>
    </dgm:pt>
    <dgm:pt modelId="{498A7310-C499-4F51-8C8E-928F42E7A51C}" type="pres">
      <dgm:prSet presAssocID="{CCA945C6-112E-4B01-B960-AD52987CA83E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127026A-7497-49FE-859F-B6CC4D1326A9}" type="pres">
      <dgm:prSet presAssocID="{CCA945C6-112E-4B01-B960-AD52987CA83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0A97888-902B-4CEF-9716-13B0A1FF39E6}" type="pres">
      <dgm:prSet presAssocID="{CCA945C6-112E-4B01-B960-AD52987CA83E}" presName="spaceRect" presStyleCnt="0"/>
      <dgm:spPr/>
    </dgm:pt>
    <dgm:pt modelId="{1CC9715B-2119-4D4F-A0DD-6A42F1EA64CA}" type="pres">
      <dgm:prSet presAssocID="{CCA945C6-112E-4B01-B960-AD52987CA83E}" presName="textRect" presStyleLbl="revTx" presStyleIdx="1" presStyleCnt="3">
        <dgm:presLayoutVars>
          <dgm:chMax val="1"/>
          <dgm:chPref val="1"/>
        </dgm:presLayoutVars>
      </dgm:prSet>
      <dgm:spPr/>
    </dgm:pt>
    <dgm:pt modelId="{449533C4-29D4-4608-BBBE-78DE488206EA}" type="pres">
      <dgm:prSet presAssocID="{7E3CFBF9-A114-415B-8E67-D868B685A910}" presName="sibTrans" presStyleCnt="0"/>
      <dgm:spPr/>
    </dgm:pt>
    <dgm:pt modelId="{607DE68E-DC60-44D9-945D-0D1101E1CC60}" type="pres">
      <dgm:prSet presAssocID="{B78E3C81-7C14-4879-B50A-9BD8EA4C4D32}" presName="compNode" presStyleCnt="0"/>
      <dgm:spPr/>
    </dgm:pt>
    <dgm:pt modelId="{AA94CC57-79D2-43F1-ACCE-203953CAC621}" type="pres">
      <dgm:prSet presAssocID="{B78E3C81-7C14-4879-B50A-9BD8EA4C4D32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5818566-68BC-40AF-A3F5-800E516E37DB}" type="pres">
      <dgm:prSet presAssocID="{B78E3C81-7C14-4879-B50A-9BD8EA4C4D3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bbrica"/>
        </a:ext>
      </dgm:extLst>
    </dgm:pt>
    <dgm:pt modelId="{5306BF49-5648-4B14-8D64-7A0FDB8867CE}" type="pres">
      <dgm:prSet presAssocID="{B78E3C81-7C14-4879-B50A-9BD8EA4C4D32}" presName="spaceRect" presStyleCnt="0"/>
      <dgm:spPr/>
    </dgm:pt>
    <dgm:pt modelId="{3491299E-0389-4D77-8636-4B9131AA2F74}" type="pres">
      <dgm:prSet presAssocID="{B78E3C81-7C14-4879-B50A-9BD8EA4C4D3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05F71C-1D68-4F6C-9817-D82D23419F9C}" type="presOf" srcId="{F21723C4-A1FE-4474-B0E2-4A710F2AFF9C}" destId="{90273D12-DA4D-48EE-AA96-FC673DE14FCD}" srcOrd="0" destOrd="0" presId="urn:microsoft.com/office/officeart/2018/5/layout/IconLeafLabelList"/>
    <dgm:cxn modelId="{D3CE5122-E107-41EB-9EBE-E6C9110136E0}" type="presOf" srcId="{CCA945C6-112E-4B01-B960-AD52987CA83E}" destId="{1CC9715B-2119-4D4F-A0DD-6A42F1EA64CA}" srcOrd="0" destOrd="0" presId="urn:microsoft.com/office/officeart/2018/5/layout/IconLeafLabelList"/>
    <dgm:cxn modelId="{A364644D-37DB-416E-847C-190E229EA72E}" type="presOf" srcId="{B78E3C81-7C14-4879-B50A-9BD8EA4C4D32}" destId="{3491299E-0389-4D77-8636-4B9131AA2F74}" srcOrd="0" destOrd="0" presId="urn:microsoft.com/office/officeart/2018/5/layout/IconLeafLabelList"/>
    <dgm:cxn modelId="{7460F69A-0A32-46CB-98FC-77790B87B2B5}" type="presOf" srcId="{B390456B-5567-4451-89C5-28E54F75B212}" destId="{DD771F0B-4186-46CE-98B5-1B03C499B17E}" srcOrd="0" destOrd="0" presId="urn:microsoft.com/office/officeart/2018/5/layout/IconLeafLabelList"/>
    <dgm:cxn modelId="{5FB9A59F-3BEF-4710-AED5-AD29028C683B}" srcId="{B390456B-5567-4451-89C5-28E54F75B212}" destId="{B78E3C81-7C14-4879-B50A-9BD8EA4C4D32}" srcOrd="2" destOrd="0" parTransId="{434CE34D-AB4D-4EEA-ACC7-94F860C5B804}" sibTransId="{2708C895-D059-4CBE-ADDC-8B6D71E54E82}"/>
    <dgm:cxn modelId="{36ACF0BA-E47E-4F9F-9F76-B257294C574F}" srcId="{B390456B-5567-4451-89C5-28E54F75B212}" destId="{CCA945C6-112E-4B01-B960-AD52987CA83E}" srcOrd="1" destOrd="0" parTransId="{1EEE39DF-20D4-4EE8-8CCE-61080555730A}" sibTransId="{7E3CFBF9-A114-415B-8E67-D868B685A910}"/>
    <dgm:cxn modelId="{2B06C0EA-5DAD-46FF-8DE4-19FD045D039C}" srcId="{B390456B-5567-4451-89C5-28E54F75B212}" destId="{F21723C4-A1FE-4474-B0E2-4A710F2AFF9C}" srcOrd="0" destOrd="0" parTransId="{55C62C27-B8DF-40C1-A4D9-341FB8A1D546}" sibTransId="{6280223A-C949-4DD1-AB7F-1EBA34D493B2}"/>
    <dgm:cxn modelId="{8F1F287E-60C2-48F6-BB70-B2E46873456F}" type="presParOf" srcId="{DD771F0B-4186-46CE-98B5-1B03C499B17E}" destId="{87A3769B-EAA4-42A8-BCD4-970472913D1F}" srcOrd="0" destOrd="0" presId="urn:microsoft.com/office/officeart/2018/5/layout/IconLeafLabelList"/>
    <dgm:cxn modelId="{0A0990CC-F3C8-4F76-896E-345BA4301542}" type="presParOf" srcId="{87A3769B-EAA4-42A8-BCD4-970472913D1F}" destId="{48CC5DE0-44F3-4E94-819A-748039762D47}" srcOrd="0" destOrd="0" presId="urn:microsoft.com/office/officeart/2018/5/layout/IconLeafLabelList"/>
    <dgm:cxn modelId="{1F47D3BB-67D2-43B5-B56C-C18810F63427}" type="presParOf" srcId="{87A3769B-EAA4-42A8-BCD4-970472913D1F}" destId="{B3375A17-FA0A-4C0C-95A1-C8FCEA4F9B5C}" srcOrd="1" destOrd="0" presId="urn:microsoft.com/office/officeart/2018/5/layout/IconLeafLabelList"/>
    <dgm:cxn modelId="{7355DA07-2D2E-4883-B0B0-386D1EDE1C24}" type="presParOf" srcId="{87A3769B-EAA4-42A8-BCD4-970472913D1F}" destId="{F5C871FC-64FF-4CCC-B40E-75B650981D00}" srcOrd="2" destOrd="0" presId="urn:microsoft.com/office/officeart/2018/5/layout/IconLeafLabelList"/>
    <dgm:cxn modelId="{F7329E24-96D6-49B4-8E6F-913488037BEE}" type="presParOf" srcId="{87A3769B-EAA4-42A8-BCD4-970472913D1F}" destId="{90273D12-DA4D-48EE-AA96-FC673DE14FCD}" srcOrd="3" destOrd="0" presId="urn:microsoft.com/office/officeart/2018/5/layout/IconLeafLabelList"/>
    <dgm:cxn modelId="{D0F8BDC5-E945-4357-8565-C75BC94B2B1F}" type="presParOf" srcId="{DD771F0B-4186-46CE-98B5-1B03C499B17E}" destId="{9D074873-AD6F-4AED-A659-042E368569DB}" srcOrd="1" destOrd="0" presId="urn:microsoft.com/office/officeart/2018/5/layout/IconLeafLabelList"/>
    <dgm:cxn modelId="{6F445844-DD19-444D-B53F-13585A3C120E}" type="presParOf" srcId="{DD771F0B-4186-46CE-98B5-1B03C499B17E}" destId="{8D663FA8-A62A-4EB2-B9D1-A0CD157B0D02}" srcOrd="2" destOrd="0" presId="urn:microsoft.com/office/officeart/2018/5/layout/IconLeafLabelList"/>
    <dgm:cxn modelId="{9A6DC440-9C44-4A6F-989E-B218EA989209}" type="presParOf" srcId="{8D663FA8-A62A-4EB2-B9D1-A0CD157B0D02}" destId="{498A7310-C499-4F51-8C8E-928F42E7A51C}" srcOrd="0" destOrd="0" presId="urn:microsoft.com/office/officeart/2018/5/layout/IconLeafLabelList"/>
    <dgm:cxn modelId="{178566E4-9D25-42ED-982D-DDDA53A58FE2}" type="presParOf" srcId="{8D663FA8-A62A-4EB2-B9D1-A0CD157B0D02}" destId="{B127026A-7497-49FE-859F-B6CC4D1326A9}" srcOrd="1" destOrd="0" presId="urn:microsoft.com/office/officeart/2018/5/layout/IconLeafLabelList"/>
    <dgm:cxn modelId="{A543EA96-8FD8-4DDE-BCAF-0651C3FDF561}" type="presParOf" srcId="{8D663FA8-A62A-4EB2-B9D1-A0CD157B0D02}" destId="{C0A97888-902B-4CEF-9716-13B0A1FF39E6}" srcOrd="2" destOrd="0" presId="urn:microsoft.com/office/officeart/2018/5/layout/IconLeafLabelList"/>
    <dgm:cxn modelId="{D4988450-4D5D-4ACA-9A9D-C128BB8A19D7}" type="presParOf" srcId="{8D663FA8-A62A-4EB2-B9D1-A0CD157B0D02}" destId="{1CC9715B-2119-4D4F-A0DD-6A42F1EA64CA}" srcOrd="3" destOrd="0" presId="urn:microsoft.com/office/officeart/2018/5/layout/IconLeafLabelList"/>
    <dgm:cxn modelId="{AFDD0ACF-D6A5-4021-ABDD-C542B97A34CD}" type="presParOf" srcId="{DD771F0B-4186-46CE-98B5-1B03C499B17E}" destId="{449533C4-29D4-4608-BBBE-78DE488206EA}" srcOrd="3" destOrd="0" presId="urn:microsoft.com/office/officeart/2018/5/layout/IconLeafLabelList"/>
    <dgm:cxn modelId="{677B55C4-8439-4902-A267-36739C327615}" type="presParOf" srcId="{DD771F0B-4186-46CE-98B5-1B03C499B17E}" destId="{607DE68E-DC60-44D9-945D-0D1101E1CC60}" srcOrd="4" destOrd="0" presId="urn:microsoft.com/office/officeart/2018/5/layout/IconLeafLabelList"/>
    <dgm:cxn modelId="{FDB36CB3-2E93-47D4-99B1-077EBE3D02E8}" type="presParOf" srcId="{607DE68E-DC60-44D9-945D-0D1101E1CC60}" destId="{AA94CC57-79D2-43F1-ACCE-203953CAC621}" srcOrd="0" destOrd="0" presId="urn:microsoft.com/office/officeart/2018/5/layout/IconLeafLabelList"/>
    <dgm:cxn modelId="{6E0253D1-22F5-4C59-8F65-0FFE8C3971F2}" type="presParOf" srcId="{607DE68E-DC60-44D9-945D-0D1101E1CC60}" destId="{B5818566-68BC-40AF-A3F5-800E516E37DB}" srcOrd="1" destOrd="0" presId="urn:microsoft.com/office/officeart/2018/5/layout/IconLeafLabelList"/>
    <dgm:cxn modelId="{B3A37514-9A35-479E-BD7C-A05C794E6875}" type="presParOf" srcId="{607DE68E-DC60-44D9-945D-0D1101E1CC60}" destId="{5306BF49-5648-4B14-8D64-7A0FDB8867CE}" srcOrd="2" destOrd="0" presId="urn:microsoft.com/office/officeart/2018/5/layout/IconLeafLabelList"/>
    <dgm:cxn modelId="{44ED31D9-A590-4B6B-BB2E-DFB686EF985E}" type="presParOf" srcId="{607DE68E-DC60-44D9-945D-0D1101E1CC60}" destId="{3491299E-0389-4D77-8636-4B9131AA2F74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fight</a:t>
          </a:r>
          <a:r>
            <a:rPr lang="it-IT" noProof="0" dirty="0"/>
            <a:t> the </a:t>
          </a:r>
          <a:r>
            <a:rPr lang="it-IT" noProof="0" dirty="0" err="1"/>
            <a:t>enemies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go on with the plot</a:t>
          </a:r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allows</a:t>
          </a:r>
          <a:r>
            <a:rPr lang="it-IT" noProof="0" dirty="0"/>
            <a:t> the player to </a:t>
          </a:r>
          <a:r>
            <a:rPr lang="it-IT" noProof="0" dirty="0" err="1"/>
            <a:t>choose</a:t>
          </a:r>
          <a:r>
            <a:rPr lang="it-IT" noProof="0" dirty="0"/>
            <a:t> an </a:t>
          </a:r>
          <a:r>
            <a:rPr lang="it-IT" noProof="0" dirty="0" err="1"/>
            <a:t>attack</a:t>
          </a:r>
          <a:r>
            <a:rPr lang="it-IT" noProof="0" dirty="0"/>
            <a:t> or use an item</a:t>
          </a:r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Strategy + 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the system to </a:t>
          </a:r>
          <a:r>
            <a:rPr lang="it-IT" noProof="0" dirty="0" err="1"/>
            <a:t>calculate</a:t>
          </a:r>
          <a:r>
            <a:rPr lang="it-IT" noProof="0" dirty="0"/>
            <a:t> </a:t>
          </a:r>
          <a:r>
            <a:rPr lang="it-IT" noProof="0" dirty="0" err="1"/>
            <a:t>damage</a:t>
          </a:r>
          <a:r>
            <a:rPr lang="it-IT" noProof="0" dirty="0"/>
            <a:t>, </a:t>
          </a:r>
          <a:r>
            <a:rPr lang="it-IT" noProof="0" dirty="0" err="1"/>
            <a:t>effects</a:t>
          </a:r>
          <a:r>
            <a:rPr lang="it-IT" noProof="0" dirty="0"/>
            <a:t> and </a:t>
          </a:r>
          <a:r>
            <a:rPr lang="it-IT" noProof="0" dirty="0" err="1"/>
            <a:t>healing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see</a:t>
          </a:r>
          <a:r>
            <a:rPr lang="it-IT" noProof="0" dirty="0"/>
            <a:t> the </a:t>
          </a:r>
          <a:r>
            <a:rPr lang="it-IT" noProof="0" dirty="0" err="1"/>
            <a:t>results</a:t>
          </a:r>
          <a:r>
            <a:rPr lang="it-IT" noProof="0" dirty="0"/>
            <a:t> of </a:t>
          </a:r>
          <a:r>
            <a:rPr lang="it-IT" noProof="0" dirty="0" err="1"/>
            <a:t>each</a:t>
          </a:r>
          <a:r>
            <a:rPr lang="it-IT" noProof="0" dirty="0"/>
            <a:t> turn.</a:t>
          </a:r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calculates</a:t>
          </a:r>
          <a:r>
            <a:rPr lang="it-IT" noProof="0" dirty="0"/>
            <a:t> </a:t>
          </a:r>
          <a:r>
            <a:rPr lang="it-IT" noProof="0" dirty="0" err="1"/>
            <a:t>correctly</a:t>
          </a:r>
          <a:r>
            <a:rPr lang="it-IT" noProof="0" dirty="0"/>
            <a:t> the new </a:t>
          </a:r>
          <a:r>
            <a:rPr lang="it-IT" noProof="0" dirty="0" err="1"/>
            <a:t>combat</a:t>
          </a:r>
          <a:r>
            <a:rPr lang="it-IT" noProof="0" dirty="0"/>
            <a:t> state and the game </a:t>
          </a:r>
          <a:r>
            <a:rPr lang="it-IT" noProof="0" dirty="0" err="1"/>
            <a:t>properly</a:t>
          </a:r>
          <a:r>
            <a:rPr lang="it-IT" noProof="0" dirty="0"/>
            <a:t> shows the new </a:t>
          </a:r>
          <a:r>
            <a:rPr lang="it-IT" noProof="0" dirty="0" err="1"/>
            <a:t>combat</a:t>
          </a:r>
          <a:r>
            <a:rPr lang="it-IT" noProof="0" dirty="0"/>
            <a:t> state.</a:t>
          </a:r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</a:t>
          </a:r>
          <a:r>
            <a:rPr lang="it-IT" noProof="0" dirty="0" err="1"/>
            <a:t>battles</a:t>
          </a:r>
          <a:r>
            <a:rPr lang="it-IT" noProof="0" dirty="0"/>
            <a:t> to </a:t>
          </a:r>
          <a:r>
            <a:rPr lang="it-IT" noProof="0" dirty="0" err="1"/>
            <a:t>proceed</a:t>
          </a:r>
          <a:r>
            <a:rPr lang="it-IT" noProof="0" dirty="0"/>
            <a:t> in </a:t>
          </a:r>
          <a:r>
            <a:rPr lang="it-IT" noProof="0" dirty="0" err="1"/>
            <a:t>alternating</a:t>
          </a:r>
          <a:r>
            <a:rPr lang="it-IT" noProof="0" dirty="0"/>
            <a:t> turns </a:t>
          </a:r>
          <a:r>
            <a:rPr lang="it-IT" noProof="0" dirty="0" err="1"/>
            <a:t>until</a:t>
          </a:r>
          <a:r>
            <a:rPr lang="it-IT" noProof="0" dirty="0"/>
            <a:t> one side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defeated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the </a:t>
          </a:r>
          <a:r>
            <a:rPr lang="it-IT" noProof="0" dirty="0" err="1"/>
            <a:t>fight</a:t>
          </a:r>
          <a:r>
            <a:rPr lang="it-IT" noProof="0" dirty="0"/>
            <a:t> </a:t>
          </a:r>
          <a:r>
            <a:rPr lang="it-IT" noProof="0" dirty="0" err="1"/>
            <a:t>resolves</a:t>
          </a:r>
          <a:r>
            <a:rPr lang="it-IT" noProof="0" dirty="0"/>
            <a:t> </a:t>
          </a:r>
          <a:r>
            <a:rPr lang="it-IT" noProof="0" dirty="0" err="1"/>
            <a:t>fairly</a:t>
          </a:r>
          <a:r>
            <a:rPr lang="it-IT" noProof="0" dirty="0"/>
            <a:t>.</a:t>
          </a:r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defRPr cap="all"/>
          </a:pPr>
          <a:r>
            <a:rPr lang="it-IT" b="1" noProof="0" dirty="0" err="1"/>
            <a:t>acceptance</a:t>
          </a:r>
          <a:r>
            <a:rPr lang="it-IT" b="1" noProof="0" dirty="0"/>
            <a:t> </a:t>
          </a:r>
          <a:r>
            <a:rPr lang="it-IT" b="1" noProof="0" dirty="0" err="1"/>
            <a:t>criteria</a:t>
          </a:r>
          <a:r>
            <a:rPr lang="it-IT" noProof="0" dirty="0"/>
            <a:t>: turns alternate </a:t>
          </a:r>
          <a:r>
            <a:rPr lang="it-IT" noProof="0" dirty="0" err="1"/>
            <a:t>between</a:t>
          </a:r>
          <a:r>
            <a:rPr lang="it-IT" noProof="0" dirty="0"/>
            <a:t> player and </a:t>
          </a:r>
          <a:r>
            <a:rPr lang="it-IT" noProof="0" dirty="0" err="1"/>
            <a:t>enemy</a:t>
          </a:r>
          <a:r>
            <a:rPr lang="it-IT" noProof="0" dirty="0"/>
            <a:t> and </a:t>
          </a:r>
          <a:r>
            <a:rPr lang="it-IT" noProof="0" dirty="0" err="1"/>
            <a:t>rewards</a:t>
          </a:r>
          <a:r>
            <a:rPr lang="it-IT" noProof="0" dirty="0"/>
            <a:t> (XP, items) are </a:t>
          </a:r>
          <a:r>
            <a:rPr lang="it-IT" noProof="0" dirty="0" err="1"/>
            <a:t>assigned</a:t>
          </a:r>
          <a:r>
            <a:rPr lang="it-IT" noProof="0" dirty="0"/>
            <a:t> after </a:t>
          </a:r>
          <a:r>
            <a:rPr lang="it-IT" noProof="0" dirty="0" err="1"/>
            <a:t>victory</a:t>
          </a:r>
          <a:r>
            <a:rPr lang="it-IT" noProof="0" dirty="0"/>
            <a:t>.</a:t>
          </a:r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usati: </a:t>
          </a:r>
          <a:r>
            <a:rPr lang="it-IT" b="1" noProof="0" dirty="0"/>
            <a:t>Strategy + Iterator</a:t>
          </a:r>
          <a:endParaRPr lang="it-IT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en-US" b="1" dirty="0"/>
            <a:t>As a</a:t>
          </a:r>
          <a:r>
            <a:rPr lang="en-US" dirty="0"/>
            <a:t> player </a:t>
          </a:r>
          <a:r>
            <a:rPr lang="en-US" b="1" dirty="0"/>
            <a:t>I want</a:t>
          </a:r>
          <a:r>
            <a:rPr lang="en-US" dirty="0"/>
            <a:t> to view an interactive map,</a:t>
          </a:r>
          <a:br>
            <a:rPr lang="en-US" dirty="0"/>
          </a:br>
          <a:r>
            <a:rPr lang="en-US" b="1" dirty="0"/>
            <a:t>So that</a:t>
          </a:r>
          <a:r>
            <a:rPr lang="en-US" dirty="0"/>
            <a:t> I can easily see locations and understand their position relative to my current location.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1" dirty="0"/>
            <a:t>Acceptance Criteria: The map is displayed correctly when the </a:t>
          </a:r>
          <a:r>
            <a:rPr lang="en-US" b="1" dirty="0" err="1"/>
            <a:t>MapView</a:t>
          </a:r>
          <a:r>
            <a:rPr lang="en-US" b="1" dirty="0"/>
            <a:t> is opened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BUILDER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dirty="0"/>
            <a:t>As a player, I want to choose my character’s job, so that I can custom the gameplay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dirty="0"/>
            <a:t>Acceptance Criteria: the system displays available jobs with descriptions.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Abstract Factory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As a player, I want to fight the enemies so that I can go on with the plot</a:t>
          </a:r>
          <a:endParaRPr lang="it-IT" noProof="0" dirty="0"/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Acceptance Criteria: the game allows the player to choose an attack or use an item</a:t>
          </a:r>
          <a:endParaRPr lang="it-IT" noProof="0" dirty="0"/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evolve my character, so that I progress in the game.</a:t>
          </a:r>
          <a:endParaRPr lang="it-IT" noProof="0" dirty="0"/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new ability appears in the ability list</a:t>
          </a:r>
          <a:endParaRPr lang="it-IT" noProof="0" dirty="0"/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 I want to save my progress in either the current slot or another one so that I can continue my game from the last save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save menu lists all slots and if a slot is already used, confirmation for overwrite is required.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Memento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make choices that influence the main story, so that I can experience a unique and personalized narrative.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system records choices for future consequences.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Builder</a:t>
          </a:r>
          <a:endParaRPr lang="it-IT" b="1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DB1E62-1B90-4700-89FA-10C01D129410}">
      <dsp:nvSpPr>
        <dsp:cNvPr id="0" name=""/>
        <dsp:cNvSpPr/>
      </dsp:nvSpPr>
      <dsp:spPr>
        <a:xfrm>
          <a:off x="0" y="717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AC1CE1-F139-45AE-9F5D-FDEBBDE6CBBE}">
      <dsp:nvSpPr>
        <dsp:cNvPr id="0" name=""/>
        <dsp:cNvSpPr/>
      </dsp:nvSpPr>
      <dsp:spPr>
        <a:xfrm>
          <a:off x="507973" y="378548"/>
          <a:ext cx="923587" cy="9235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B845FB-01CC-4EB6-92E4-8480887060B0}">
      <dsp:nvSpPr>
        <dsp:cNvPr id="0" name=""/>
        <dsp:cNvSpPr/>
      </dsp:nvSpPr>
      <dsp:spPr>
        <a:xfrm>
          <a:off x="1939533" y="717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to </a:t>
          </a:r>
          <a:r>
            <a:rPr lang="it-IT" sz="2100" kern="1200" noProof="0" dirty="0" err="1"/>
            <a:t>launch</a:t>
          </a:r>
          <a:r>
            <a:rPr lang="it-IT" sz="2100" kern="1200" noProof="0" dirty="0"/>
            <a:t> the game and access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menu,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choose</a:t>
          </a:r>
          <a:r>
            <a:rPr lang="it-IT" sz="2100" kern="1200" noProof="0" dirty="0"/>
            <a:t> to start, continue, or </a:t>
          </a:r>
          <a:r>
            <a:rPr lang="it-IT" sz="2100" kern="1200" noProof="0" dirty="0" err="1"/>
            <a:t>configure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my</a:t>
          </a:r>
          <a:r>
            <a:rPr lang="it-IT" sz="2100" kern="1200" noProof="0" dirty="0"/>
            <a:t> game.</a:t>
          </a:r>
        </a:p>
      </dsp:txBody>
      <dsp:txXfrm>
        <a:off x="1939533" y="717"/>
        <a:ext cx="4362067" cy="1679249"/>
      </dsp:txXfrm>
    </dsp:sp>
    <dsp:sp modelId="{0C439C05-E3DA-4022-BC99-642E8E3EE121}">
      <dsp:nvSpPr>
        <dsp:cNvPr id="0" name=""/>
        <dsp:cNvSpPr/>
      </dsp:nvSpPr>
      <dsp:spPr>
        <a:xfrm>
          <a:off x="0" y="2099779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B68A32-64BA-4C70-A040-1835F6AF5808}">
      <dsp:nvSpPr>
        <dsp:cNvPr id="0" name=""/>
        <dsp:cNvSpPr/>
      </dsp:nvSpPr>
      <dsp:spPr>
        <a:xfrm>
          <a:off x="507973" y="2477610"/>
          <a:ext cx="923587" cy="9235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DD3097-3472-41AD-A195-4BC459963CDF}">
      <dsp:nvSpPr>
        <dsp:cNvPr id="0" name=""/>
        <dsp:cNvSpPr/>
      </dsp:nvSpPr>
      <dsp:spPr>
        <a:xfrm>
          <a:off x="1939533" y="2099779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launches</a:t>
          </a:r>
          <a:r>
            <a:rPr lang="it-IT" sz="2100" kern="1200" noProof="0" dirty="0"/>
            <a:t> and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 </a:t>
          </a:r>
          <a:r>
            <a:rPr lang="it-IT" sz="2100" kern="1200" noProof="0" dirty="0" err="1"/>
            <a:t>is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showed</a:t>
          </a:r>
          <a:r>
            <a:rPr lang="it-IT" sz="2100" kern="1200" noProof="0" dirty="0"/>
            <a:t>.</a:t>
          </a:r>
        </a:p>
      </dsp:txBody>
      <dsp:txXfrm>
        <a:off x="1939533" y="2099779"/>
        <a:ext cx="4362067" cy="1679249"/>
      </dsp:txXfrm>
    </dsp:sp>
    <dsp:sp modelId="{1F1F13AC-1B21-4549-9290-145AE0D49428}">
      <dsp:nvSpPr>
        <dsp:cNvPr id="0" name=""/>
        <dsp:cNvSpPr/>
      </dsp:nvSpPr>
      <dsp:spPr>
        <a:xfrm>
          <a:off x="0" y="4198841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CC5301-C3D4-4693-AF87-8D01706211DC}">
      <dsp:nvSpPr>
        <dsp:cNvPr id="0" name=""/>
        <dsp:cNvSpPr/>
      </dsp:nvSpPr>
      <dsp:spPr>
        <a:xfrm>
          <a:off x="507973" y="4576672"/>
          <a:ext cx="923587" cy="9235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812115-F87A-435D-8B0E-36F24BA800BA}">
      <dsp:nvSpPr>
        <dsp:cNvPr id="0" name=""/>
        <dsp:cNvSpPr/>
      </dsp:nvSpPr>
      <dsp:spPr>
        <a:xfrm>
          <a:off x="1939533" y="4198841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Pattern: Singleton</a:t>
          </a:r>
        </a:p>
      </dsp:txBody>
      <dsp:txXfrm>
        <a:off x="1939533" y="4198841"/>
        <a:ext cx="4362067" cy="16792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CC5DE0-44F3-4E94-819A-748039762D47}">
      <dsp:nvSpPr>
        <dsp:cNvPr id="0" name=""/>
        <dsp:cNvSpPr/>
      </dsp:nvSpPr>
      <dsp:spPr>
        <a:xfrm>
          <a:off x="647429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375A17-FA0A-4C0C-95A1-C8FCEA4F9B5C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273D12-DA4D-48EE-AA96-FC673DE14FCD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As</a:t>
          </a:r>
          <a:r>
            <a:rPr lang="it-IT" sz="1700" kern="1200" noProof="0" dirty="0"/>
            <a:t> a player, I </a:t>
          </a:r>
          <a:r>
            <a:rPr lang="it-IT" sz="1700" kern="1200" noProof="0" dirty="0" err="1"/>
            <a:t>want</a:t>
          </a:r>
          <a:r>
            <a:rPr lang="it-IT" sz="1700" kern="1200" noProof="0" dirty="0"/>
            <a:t> to start a new game, so </a:t>
          </a:r>
          <a:r>
            <a:rPr lang="it-IT" sz="1700" kern="1200" noProof="0" dirty="0" err="1"/>
            <a:t>that</a:t>
          </a:r>
          <a:r>
            <a:rPr lang="it-IT" sz="1700" kern="1200" noProof="0" dirty="0"/>
            <a:t> I can play</a:t>
          </a:r>
        </a:p>
      </dsp:txBody>
      <dsp:txXfrm>
        <a:off x="66086" y="2615580"/>
        <a:ext cx="2981250" cy="720000"/>
      </dsp:txXfrm>
    </dsp:sp>
    <dsp:sp modelId="{498A7310-C499-4F51-8C8E-928F42E7A51C}">
      <dsp:nvSpPr>
        <dsp:cNvPr id="0" name=""/>
        <dsp:cNvSpPr/>
      </dsp:nvSpPr>
      <dsp:spPr>
        <a:xfrm>
          <a:off x="4150398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7026A-7497-49FE-859F-B6CC4D1326A9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C9715B-2119-4D4F-A0DD-6A42F1EA64CA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acceptance</a:t>
          </a:r>
          <a:r>
            <a:rPr lang="it-IT" sz="1700" kern="1200" noProof="0" dirty="0"/>
            <a:t> </a:t>
          </a:r>
          <a:r>
            <a:rPr lang="it-IT" sz="1700" kern="1200" noProof="0" dirty="0" err="1"/>
            <a:t>criteria</a:t>
          </a:r>
          <a:r>
            <a:rPr lang="it-IT" sz="1700" kern="1200" noProof="0" dirty="0"/>
            <a:t>: the game starts from the </a:t>
          </a:r>
          <a:r>
            <a:rPr lang="it-IT" sz="1700" kern="1200" noProof="0" dirty="0" err="1"/>
            <a:t>beginning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AA94CC57-79D2-43F1-ACCE-203953CAC621}">
      <dsp:nvSpPr>
        <dsp:cNvPr id="0" name=""/>
        <dsp:cNvSpPr/>
      </dsp:nvSpPr>
      <dsp:spPr>
        <a:xfrm>
          <a:off x="7653367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8566-68BC-40AF-A3F5-800E516E37DB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91299E-0389-4D77-8636-4B9131AA2F74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Pattern: Factory</a:t>
          </a:r>
        </a:p>
      </dsp:txBody>
      <dsp:txXfrm>
        <a:off x="7072023" y="2615580"/>
        <a:ext cx="298125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As</a:t>
          </a:r>
          <a:r>
            <a:rPr lang="it-IT" sz="1500" kern="1200" noProof="0" dirty="0"/>
            <a:t> a player, I </a:t>
          </a:r>
          <a:r>
            <a:rPr lang="it-IT" sz="1500" kern="1200" noProof="0" dirty="0" err="1"/>
            <a:t>want</a:t>
          </a:r>
          <a:r>
            <a:rPr lang="it-IT" sz="1500" kern="1200" noProof="0" dirty="0"/>
            <a:t> to </a:t>
          </a:r>
          <a:r>
            <a:rPr lang="it-IT" sz="1500" kern="1200" noProof="0" dirty="0" err="1"/>
            <a:t>fight</a:t>
          </a:r>
          <a:r>
            <a:rPr lang="it-IT" sz="1500" kern="1200" noProof="0" dirty="0"/>
            <a:t> the </a:t>
          </a:r>
          <a:r>
            <a:rPr lang="it-IT" sz="1500" kern="1200" noProof="0" dirty="0" err="1"/>
            <a:t>enemies</a:t>
          </a:r>
          <a:r>
            <a:rPr lang="it-IT" sz="1500" kern="1200" noProof="0" dirty="0"/>
            <a:t> so </a:t>
          </a:r>
          <a:r>
            <a:rPr lang="it-IT" sz="1500" kern="1200" noProof="0" dirty="0" err="1"/>
            <a:t>that</a:t>
          </a:r>
          <a:r>
            <a:rPr lang="it-IT" sz="1500" kern="1200" noProof="0" dirty="0"/>
            <a:t> I can go on with the plot</a:t>
          </a:r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acceptance</a:t>
          </a:r>
          <a:r>
            <a:rPr lang="it-IT" sz="1500" kern="1200" noProof="0" dirty="0"/>
            <a:t> </a:t>
          </a:r>
          <a:r>
            <a:rPr lang="it-IT" sz="1500" kern="1200" noProof="0" dirty="0" err="1"/>
            <a:t>criteria</a:t>
          </a:r>
          <a:r>
            <a:rPr lang="it-IT" sz="1500" kern="1200" noProof="0" dirty="0"/>
            <a:t>: the game </a:t>
          </a:r>
          <a:r>
            <a:rPr lang="it-IT" sz="1500" kern="1200" noProof="0" dirty="0" err="1"/>
            <a:t>allows</a:t>
          </a:r>
          <a:r>
            <a:rPr lang="it-IT" sz="1500" kern="1200" noProof="0" dirty="0"/>
            <a:t> the player to </a:t>
          </a:r>
          <a:r>
            <a:rPr lang="it-IT" sz="1500" kern="1200" noProof="0" dirty="0" err="1"/>
            <a:t>choose</a:t>
          </a:r>
          <a:r>
            <a:rPr lang="it-IT" sz="1500" kern="1200" noProof="0" dirty="0"/>
            <a:t> an </a:t>
          </a:r>
          <a:r>
            <a:rPr lang="it-IT" sz="1500" kern="1200" noProof="0" dirty="0" err="1"/>
            <a:t>attack</a:t>
          </a:r>
          <a:r>
            <a:rPr lang="it-IT" sz="1500" kern="1200" noProof="0" dirty="0"/>
            <a:t> or use an item</a:t>
          </a:r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Strategy + 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the system to </a:t>
          </a:r>
          <a:r>
            <a:rPr lang="it-IT" sz="2100" kern="1200" noProof="0" dirty="0" err="1"/>
            <a:t>calculate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damage</a:t>
          </a:r>
          <a:r>
            <a:rPr lang="it-IT" sz="2100" kern="1200" noProof="0" dirty="0"/>
            <a:t>, </a:t>
          </a:r>
          <a:r>
            <a:rPr lang="it-IT" sz="2100" kern="1200" noProof="0" dirty="0" err="1"/>
            <a:t>effects</a:t>
          </a:r>
          <a:r>
            <a:rPr lang="it-IT" sz="2100" kern="1200" noProof="0" dirty="0"/>
            <a:t> and </a:t>
          </a:r>
          <a:r>
            <a:rPr lang="it-IT" sz="2100" kern="1200" noProof="0" dirty="0" err="1"/>
            <a:t>healing</a:t>
          </a:r>
          <a:r>
            <a:rPr lang="it-IT" sz="2100" kern="1200" noProof="0" dirty="0"/>
            <a:t>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see</a:t>
          </a:r>
          <a:r>
            <a:rPr lang="it-IT" sz="2100" kern="1200" noProof="0" dirty="0"/>
            <a:t> the </a:t>
          </a:r>
          <a:r>
            <a:rPr lang="it-IT" sz="2100" kern="1200" noProof="0" dirty="0" err="1"/>
            <a:t>results</a:t>
          </a:r>
          <a:r>
            <a:rPr lang="it-IT" sz="2100" kern="1200" noProof="0" dirty="0"/>
            <a:t> of </a:t>
          </a:r>
          <a:r>
            <a:rPr lang="it-IT" sz="2100" kern="1200" noProof="0" dirty="0" err="1"/>
            <a:t>each</a:t>
          </a:r>
          <a:r>
            <a:rPr lang="it-IT" sz="2100" kern="1200" noProof="0" dirty="0"/>
            <a:t> turn.</a:t>
          </a:r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calculates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correctly</a:t>
          </a:r>
          <a:r>
            <a:rPr lang="it-IT" sz="2100" kern="1200" noProof="0" dirty="0"/>
            <a:t>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 and the game </a:t>
          </a:r>
          <a:r>
            <a:rPr lang="it-IT" sz="2100" kern="1200" noProof="0" dirty="0" err="1"/>
            <a:t>properly</a:t>
          </a:r>
          <a:r>
            <a:rPr lang="it-IT" sz="2100" kern="1200" noProof="0" dirty="0"/>
            <a:t> shows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state.</a:t>
          </a:r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 err="1"/>
            <a:t>As</a:t>
          </a:r>
          <a:r>
            <a:rPr lang="it-IT" sz="1200" kern="1200" noProof="0" dirty="0"/>
            <a:t> a player, I </a:t>
          </a:r>
          <a:r>
            <a:rPr lang="it-IT" sz="1200" kern="1200" noProof="0" dirty="0" err="1"/>
            <a:t>want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battles</a:t>
          </a:r>
          <a:r>
            <a:rPr lang="it-IT" sz="1200" kern="1200" noProof="0" dirty="0"/>
            <a:t> to </a:t>
          </a:r>
          <a:r>
            <a:rPr lang="it-IT" sz="1200" kern="1200" noProof="0" dirty="0" err="1"/>
            <a:t>proceed</a:t>
          </a:r>
          <a:r>
            <a:rPr lang="it-IT" sz="1200" kern="1200" noProof="0" dirty="0"/>
            <a:t> in </a:t>
          </a:r>
          <a:r>
            <a:rPr lang="it-IT" sz="1200" kern="1200" noProof="0" dirty="0" err="1"/>
            <a:t>alternating</a:t>
          </a:r>
          <a:r>
            <a:rPr lang="it-IT" sz="1200" kern="1200" noProof="0" dirty="0"/>
            <a:t> turns </a:t>
          </a:r>
          <a:r>
            <a:rPr lang="it-IT" sz="1200" kern="1200" noProof="0" dirty="0" err="1"/>
            <a:t>until</a:t>
          </a:r>
          <a:r>
            <a:rPr lang="it-IT" sz="1200" kern="1200" noProof="0" dirty="0"/>
            <a:t> one side </a:t>
          </a:r>
          <a:r>
            <a:rPr lang="it-IT" sz="1200" kern="1200" noProof="0" dirty="0" err="1"/>
            <a:t>is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defeated</a:t>
          </a:r>
          <a:r>
            <a:rPr lang="it-IT" sz="1200" kern="1200" noProof="0" dirty="0"/>
            <a:t> so </a:t>
          </a:r>
          <a:r>
            <a:rPr lang="it-IT" sz="1200" kern="1200" noProof="0" dirty="0" err="1"/>
            <a:t>that</a:t>
          </a:r>
          <a:r>
            <a:rPr lang="it-IT" sz="1200" kern="1200" noProof="0" dirty="0"/>
            <a:t> the </a:t>
          </a:r>
          <a:r>
            <a:rPr lang="it-IT" sz="1200" kern="1200" noProof="0" dirty="0" err="1"/>
            <a:t>fight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resolves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fairly</a:t>
          </a:r>
          <a:r>
            <a:rPr lang="it-IT" sz="1200" kern="1200" noProof="0" dirty="0"/>
            <a:t>.</a:t>
          </a:r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b="1" kern="1200" noProof="0" dirty="0" err="1"/>
            <a:t>acceptance</a:t>
          </a:r>
          <a:r>
            <a:rPr lang="it-IT" sz="1200" b="1" kern="1200" noProof="0" dirty="0"/>
            <a:t> </a:t>
          </a:r>
          <a:r>
            <a:rPr lang="it-IT" sz="1200" b="1" kern="1200" noProof="0" dirty="0" err="1"/>
            <a:t>criteria</a:t>
          </a:r>
          <a:r>
            <a:rPr lang="it-IT" sz="1200" kern="1200" noProof="0" dirty="0"/>
            <a:t>: turns alternate </a:t>
          </a:r>
          <a:r>
            <a:rPr lang="it-IT" sz="1200" kern="1200" noProof="0" dirty="0" err="1"/>
            <a:t>between</a:t>
          </a:r>
          <a:r>
            <a:rPr lang="it-IT" sz="1200" kern="1200" noProof="0" dirty="0"/>
            <a:t> player and </a:t>
          </a:r>
          <a:r>
            <a:rPr lang="it-IT" sz="1200" kern="1200" noProof="0" dirty="0" err="1"/>
            <a:t>enemy</a:t>
          </a:r>
          <a:r>
            <a:rPr lang="it-IT" sz="1200" kern="1200" noProof="0" dirty="0"/>
            <a:t> and </a:t>
          </a:r>
          <a:r>
            <a:rPr lang="it-IT" sz="1200" kern="1200" noProof="0" dirty="0" err="1"/>
            <a:t>rewards</a:t>
          </a:r>
          <a:r>
            <a:rPr lang="it-IT" sz="1200" kern="1200" noProof="0" dirty="0"/>
            <a:t> (XP, items) are </a:t>
          </a:r>
          <a:r>
            <a:rPr lang="it-IT" sz="1200" kern="1200" noProof="0" dirty="0" err="1"/>
            <a:t>assigned</a:t>
          </a:r>
          <a:r>
            <a:rPr lang="it-IT" sz="1200" kern="1200" noProof="0" dirty="0"/>
            <a:t> after </a:t>
          </a:r>
          <a:r>
            <a:rPr lang="it-IT" sz="1200" kern="1200" noProof="0" dirty="0" err="1"/>
            <a:t>victory</a:t>
          </a:r>
          <a:r>
            <a:rPr lang="it-IT" sz="1200" kern="1200" noProof="0" dirty="0"/>
            <a:t>.</a:t>
          </a:r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usati: </a:t>
          </a:r>
          <a:r>
            <a:rPr lang="it-IT" sz="1200" b="1" kern="1200" noProof="0" dirty="0"/>
            <a:t>Strategy + Iterator</a:t>
          </a:r>
          <a:endParaRPr lang="it-IT" sz="1200" kern="1200" noProof="0" dirty="0"/>
        </a:p>
      </dsp:txBody>
      <dsp:txXfrm>
        <a:off x="7072023" y="2615580"/>
        <a:ext cx="298125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19682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 dirty="0"/>
            <a:t>As a</a:t>
          </a:r>
          <a:r>
            <a:rPr lang="en-US" sz="1100" kern="1200" dirty="0"/>
            <a:t> player </a:t>
          </a:r>
          <a:r>
            <a:rPr lang="en-US" sz="1100" b="1" kern="1200" dirty="0"/>
            <a:t>I want</a:t>
          </a:r>
          <a:r>
            <a:rPr lang="en-US" sz="1100" kern="1200" dirty="0"/>
            <a:t> to view an interactive map,</a:t>
          </a:r>
          <a:br>
            <a:rPr lang="en-US" sz="1100" kern="1200" dirty="0"/>
          </a:br>
          <a:r>
            <a:rPr lang="en-US" sz="1100" b="1" kern="1200" dirty="0"/>
            <a:t>So that</a:t>
          </a:r>
          <a:r>
            <a:rPr lang="en-US" sz="1100" kern="1200" dirty="0"/>
            <a:t> I can easily see locations and understand their position relative to my current location.</a:t>
          </a:r>
          <a:endParaRPr lang="it-IT" sz="1100" kern="1200" noProof="0" dirty="0"/>
        </a:p>
      </dsp:txBody>
      <dsp:txXfrm>
        <a:off x="66086" y="2581830"/>
        <a:ext cx="2981250" cy="787500"/>
      </dsp:txXfrm>
    </dsp:sp>
    <dsp:sp modelId="{B551DDE2-36F6-4E52-A995-5C2E2B3AF5A1}">
      <dsp:nvSpPr>
        <dsp:cNvPr id="0" name=""/>
        <dsp:cNvSpPr/>
      </dsp:nvSpPr>
      <dsp:spPr>
        <a:xfrm>
          <a:off x="4150398" y="19682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Acceptance Criteria: The map is displayed correctly when the </a:t>
          </a:r>
          <a:r>
            <a:rPr lang="en-US" sz="1100" b="1" kern="1200" dirty="0" err="1"/>
            <a:t>MapView</a:t>
          </a:r>
          <a:r>
            <a:rPr lang="en-US" sz="1100" b="1" kern="1200" dirty="0"/>
            <a:t> is opened</a:t>
          </a:r>
          <a:endParaRPr lang="it-IT" sz="1100" kern="1200" noProof="0" dirty="0"/>
        </a:p>
      </dsp:txBody>
      <dsp:txXfrm>
        <a:off x="3569054" y="2581830"/>
        <a:ext cx="2981250" cy="787500"/>
      </dsp:txXfrm>
    </dsp:sp>
    <dsp:sp modelId="{88D1FFE0-7DA1-4FB1-AD09-865603B879B2}">
      <dsp:nvSpPr>
        <dsp:cNvPr id="0" name=""/>
        <dsp:cNvSpPr/>
      </dsp:nvSpPr>
      <dsp:spPr>
        <a:xfrm>
          <a:off x="7653367" y="19682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100" kern="1200" noProof="0" dirty="0"/>
            <a:t>Pattern </a:t>
          </a:r>
          <a:r>
            <a:rPr lang="it-IT" sz="1100" kern="1200" noProof="0" dirty="0" err="1"/>
            <a:t>usatO</a:t>
          </a:r>
          <a:r>
            <a:rPr lang="it-IT" sz="1100" kern="1200" noProof="0" dirty="0"/>
            <a:t>: </a:t>
          </a:r>
          <a:r>
            <a:rPr lang="it-IT" sz="1100" b="1" kern="1200" noProof="0" dirty="0"/>
            <a:t>BUILDER</a:t>
          </a:r>
        </a:p>
      </dsp:txBody>
      <dsp:txXfrm>
        <a:off x="7072023" y="2581830"/>
        <a:ext cx="2981250" cy="7875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As a player, I want to choose my character’s job, so that I can custom the gameplay</a:t>
          </a:r>
          <a:endParaRPr lang="it-IT" sz="17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Acceptance Criteria: the system displays available jobs with descriptions.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 </a:t>
          </a:r>
          <a:r>
            <a:rPr lang="it-IT" sz="1700" kern="1200" noProof="0" dirty="0" err="1"/>
            <a:t>usatO</a:t>
          </a:r>
          <a:r>
            <a:rPr lang="it-IT" sz="1700" kern="1200" noProof="0" dirty="0"/>
            <a:t>: </a:t>
          </a:r>
          <a:r>
            <a:rPr lang="it-IT" sz="1700" b="1" kern="1200" noProof="0" dirty="0"/>
            <a:t>Abstract Factory</a:t>
          </a:r>
        </a:p>
      </dsp:txBody>
      <dsp:txXfrm>
        <a:off x="7072023" y="2615580"/>
        <a:ext cx="2981250" cy="7200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As a player, I want to fight the enemies so that I can go on with the plot</a:t>
          </a:r>
          <a:endParaRPr lang="it-IT" sz="1500" kern="1200" noProof="0" dirty="0"/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Acceptance Criteria: the game allows the player to choose an attack or use an item</a:t>
          </a:r>
          <a:endParaRPr lang="it-IT" sz="1500" kern="1200" noProof="0" dirty="0"/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As a player, I want to evolve my character, so that I progress in the game.</a:t>
          </a:r>
          <a:endParaRPr lang="it-IT" sz="2500" kern="1200" noProof="0" dirty="0"/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acceptance criteria: the new ability appears in the ability list</a:t>
          </a:r>
          <a:endParaRPr lang="it-IT" sz="2500" kern="1200" noProof="0" dirty="0"/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 I want to save my progress in either the current slot or another one so that I can continue my game from the last save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save menu lists all slots and if a slot is already used, confirmation for overwrite is required.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</a:t>
          </a:r>
          <a:r>
            <a:rPr lang="it-IT" sz="1200" kern="1200" noProof="0" dirty="0" err="1"/>
            <a:t>usatO</a:t>
          </a:r>
          <a:r>
            <a:rPr lang="it-IT" sz="1200" kern="1200" noProof="0" dirty="0"/>
            <a:t>: </a:t>
          </a:r>
          <a:r>
            <a:rPr lang="it-IT" sz="1200" b="1" kern="1200" noProof="0" dirty="0"/>
            <a:t>Memento</a:t>
          </a:r>
        </a:p>
      </dsp:txBody>
      <dsp:txXfrm>
        <a:off x="7072023" y="2615580"/>
        <a:ext cx="2981250" cy="72000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player, I want to make choices that influence the main story, so that I can experience a unique and personalized narrative.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system records choices for future consequences.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Pattern: Builder</a:t>
          </a:r>
          <a:endParaRPr lang="it-IT" sz="1200" b="1" kern="1200" noProof="0" dirty="0"/>
        </a:p>
      </dsp:txBody>
      <dsp:txXfrm>
        <a:off x="7072023" y="2615580"/>
        <a:ext cx="2981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32D853-022D-44A2-85A7-08E6250A7C68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6CD520-B1E6-489E-8985-8FB249C3A6D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6087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8904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9502E-200B-6A02-49F5-D7CE9A421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2F8DEC0-A555-D710-CA95-5572840D46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061CE1A-B8A6-45CC-A1AE-0F2DCB62D7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38F8222-2E9E-6026-2657-571FE73C93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4697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F4443E-220D-A599-AA5F-9D218DD83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D4DBD06-4765-F094-5E91-6CDB4CD0B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39751B-B6C9-9F49-46B3-5ED49F77A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F16CF56-5ABD-94F3-9EF5-E6CA1A237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737841-95A4-6DAD-2AE4-ED2F69551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5284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D5854A-72F6-5DE7-8EEF-E2B3F0A22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DC3C2F-839F-1B67-6470-12091246E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45B8EA2-E587-430F-C51F-2BD9FC619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91E6B2-0BA2-D701-D52A-9122E30FB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19E895-E73B-C129-B9B7-5079F6B2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0829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D83A6-BBF1-9628-29B6-49870624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E2F1518-1044-9DBF-3D2F-D7C744B3AB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9B91BC-9470-2A35-4A64-1AAF0707D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D22C7C4-BBBC-6271-D394-3915E23A3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A0D6B9-B623-1E89-C848-B69F39C22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9216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9F0BEB-FF09-373F-2DFA-C31412FC7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E0933D-09F4-880F-639F-18AACA92A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B92A691-6BB7-DC00-2BEC-ACF3523AF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1AF020-D43A-FD41-1B97-F72AEE4C2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8E0A687-4A7D-30B4-CD76-6410EF29D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1DB7B42-260D-D4A0-381F-147C5CCBF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17980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C57D6B-1E58-85AC-9376-68ED8C44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E77C7D5-F624-3A82-6B55-6A2AB4B18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5C3666B-5A5B-AA4F-65B3-691B041D39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FFB44A8-064C-91B7-7A38-703F5F822F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F3CAE5-CB03-388E-0059-E3EADB7D26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72CAEB7-EF21-412A-CEA7-C94B68478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47E29BB-6F80-88B9-85A2-57382F2C9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3671EAC-7A6A-E7D9-4CFD-9CE3B12A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6101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CBF884-FAD2-099C-0FBE-F84A8586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F553C95-FEAE-D1D5-F2A3-8B1935180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A2E1517-80C9-5D56-8B68-13F670820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FD96A23-F2A7-A0A8-FE4C-6FF6D9C5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32553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8DFAB20-BE6D-74BF-175C-16008AA47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7050A15-51BB-E27F-FCFA-D029E0992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A711AE-42B4-9801-CD03-023BA9535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773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A3399B-75AC-B7E9-A00E-2C9AA871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04CF1E-9E56-AB71-A60E-48EFA261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4201B46-D47A-4079-D495-7BE8795E5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A6F9CDC-4A40-487F-7ED6-845E586E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12DFCDE-028E-7371-9284-AE737434B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E8A6B90-8D6E-FCE5-C083-871DF4E50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1773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6239D5-74D5-8673-577D-A40CE77CC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1A043B1-9A43-8CC6-5574-20FFEE4BE0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4897AD0-6B88-49A2-19F2-51A4105DCF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8E5F337-18E0-F811-C0B3-260ACA843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D1DD506-93B4-45B0-0D19-9CA73ADB1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DA9A78B-0F9B-7630-66A2-6D5D2B19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1948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43113A-AE68-8D12-00DA-1E6FC8CF4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E87D6BF-3669-1F81-8465-0D99EA51B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7C97A9-195A-E449-01DE-20761911C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AC80C5-C2F2-ADDB-BA8F-3B6EF24B0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1CD3ED-170F-52EF-2C4B-04D6706DC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204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4E58B3F-0897-A3F8-C4B2-E551460136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17DCF30-5002-82E2-D6C1-2F5866FF2D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F02F36-C7C8-B482-275C-4274E8D48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CED04C-46A9-3C2B-B993-89C8585CC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FD7C606-86E0-8A9A-CBEC-1891901FE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239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0E691D5-3803-C6AE-4676-BE24D222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0B20BE6-6866-2162-D10E-D1D692F9F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2D609AA-D770-26CB-9637-D398A96299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9E2981F-6AF8-2C1B-E388-EF5A579297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F44CAFC-7C0D-6F3B-420D-1C912F219B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5130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nseen64.net/2010/10/27/fantasy-life-ds-unreleased-beta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ibrearts.org/2011/10/sk1-development-restarted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kxptech.com/arquitetura-mvc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E0D271-B939-4DB1-E37B-BE452D465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 noProof="0">
                <a:solidFill>
                  <a:schemeClr val="bg1">
                    <a:lumMod val="95000"/>
                    <a:lumOff val="5000"/>
                  </a:schemeClr>
                </a:solidFill>
              </a:rPr>
              <a:t>The Cycle Game</a:t>
            </a:r>
          </a:p>
        </p:txBody>
      </p:sp>
    </p:spTree>
    <p:extLst>
      <p:ext uri="{BB962C8B-B14F-4D97-AF65-F5344CB8AC3E}">
        <p14:creationId xmlns:p14="http://schemas.microsoft.com/office/powerpoint/2010/main" val="32166910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B4AD810-B3E5-CCFC-0F23-79846C340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000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First Sprint</a:t>
            </a:r>
          </a:p>
        </p:txBody>
      </p:sp>
    </p:spTree>
    <p:extLst>
      <p:ext uri="{BB962C8B-B14F-4D97-AF65-F5344CB8AC3E}">
        <p14:creationId xmlns:p14="http://schemas.microsoft.com/office/powerpoint/2010/main" val="11894545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33491F-98E5-24C3-A743-60F6E477D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Trama</a:t>
            </a:r>
          </a:p>
        </p:txBody>
      </p:sp>
      <p:pic>
        <p:nvPicPr>
          <p:cNvPr id="7" name="Immagine 6" descr="Immagine che contiene mappa&#10;&#10;Il contenuto generato dall'IA potrebbe non essere corretto.">
            <a:extLst>
              <a:ext uri="{FF2B5EF4-FFF2-40B4-BE49-F238E27FC236}">
                <a16:creationId xmlns:a16="http://schemas.microsoft.com/office/drawing/2014/main" id="{7A57C9AA-6D4D-B0CF-21FD-3BAF39BD5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7699" b="34912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937BE4-B0F0-DD02-D912-0268C5AA8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197093"/>
            <a:ext cx="5692774" cy="16488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1200" noProof="0" dirty="0">
                <a:solidFill>
                  <a:schemeClr val="bg1">
                    <a:alpha val="80000"/>
                  </a:schemeClr>
                </a:solidFill>
              </a:rPr>
              <a:t>Il gruppo deve affrontare i nemici che minacciano l'esistenza del loro mondo. La trama si infittisce quando scoprono la fonte di creazione dei nemici: una forza di Distruzione. Quindi, scelgono di uccidere tutti i servitori della Distruzione e, alla fine, anche la Distruzione stessa. Poi scoprono la verità dietro il loro mondo: un ciclo perpetuo di distruzione e creazione. La forza di Distruzione e la forza di Creazione sono forze di moto perpetuo che si antagonizzano a vicenda e devono fare il loro dovere (distruggere e creare). Quindi, uccidere la Distruzione non sarà sufficiente, poiché la Creazione darà inizio a un altro mondo, sovrascrivendo quello del gruppo, che sarà condannato a causa dell'influenza della Distruzione. La Distruzione deve distruggere all'infinito. Dopo che tutto sarà distrutto, Esso dovrà distruggere se stesso per permettere alla Creazione di dare inizio a un altro mondo. Se fermata prima dell'annientamento del mondo, la Creazione farà il suo dovere prima che arrivi il momento.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C5E9365-DB86-5CFD-9484-A41F2759E94A}"/>
              </a:ext>
            </a:extLst>
          </p:cNvPr>
          <p:cNvSpPr txBox="1"/>
          <p:nvPr/>
        </p:nvSpPr>
        <p:spPr>
          <a:xfrm>
            <a:off x="9333525" y="6657945"/>
            <a:ext cx="285847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it-IT" sz="700" noProof="0" dirty="0">
                <a:solidFill>
                  <a:srgbClr val="FFFFFF"/>
                </a:solidFill>
                <a:hlinkClick r:id="rId3" tooltip="https://www.unseen64.net/2010/10/27/fantasy-life-ds-unreleased-beta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Questa foto</a:t>
            </a:r>
            <a:r>
              <a:rPr lang="it-IT" sz="700" noProof="0" dirty="0">
                <a:solidFill>
                  <a:srgbClr val="FFFFFF"/>
                </a:solidFill>
              </a:rPr>
              <a:t> di Autore sconosciuto è concesso in licenza da </a:t>
            </a:r>
            <a:r>
              <a:rPr lang="it-IT" sz="700" noProof="0" dirty="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it-IT" sz="700" noProof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934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1040" name="Arc 1039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5CA465-4898-DB8A-02FF-263F69BD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kern="1200" noProof="0" dirty="0">
                <a:latin typeface="+mj-lt"/>
                <a:ea typeface="+mj-ea"/>
                <a:cs typeface="+mj-cs"/>
              </a:rPr>
              <a:t>MVC Architecture</a:t>
            </a:r>
          </a:p>
        </p:txBody>
      </p:sp>
      <p:sp>
        <p:nvSpPr>
          <p:cNvPr id="1042" name="Freeform: Shape 1041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1026" name="Picture 2" descr="What is Model-View and Control?">
            <a:extLst>
              <a:ext uri="{FF2B5EF4-FFF2-40B4-BE49-F238E27FC236}">
                <a16:creationId xmlns:a16="http://schemas.microsoft.com/office/drawing/2014/main" id="{A2BF8A7C-8F29-EC8F-3109-4F9F353438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3182" y="570165"/>
            <a:ext cx="4777381" cy="5547925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FD5BC69-C8C9-DD64-9E1E-B5CA9725C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562100"/>
            <a:ext cx="5458838" cy="5033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b="1" noProof="0" dirty="0"/>
              <a:t>Usiamo il pattern MVC (Model – View – Controller) nel nostro progetto perché ci permette di </a:t>
            </a:r>
            <a:r>
              <a:rPr lang="it-IT" noProof="0" dirty="0"/>
              <a:t>separare la logica di gioco, la grafica e i controlli, rendendo lo sviluppo del nostro progetto più chiaro, modulare e facilmente estendibile.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857463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Rectangle 63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magine 5" descr="Immagine che contiene testo, schermata, linea, Carattere">
            <a:extLst>
              <a:ext uri="{FF2B5EF4-FFF2-40B4-BE49-F238E27FC236}">
                <a16:creationId xmlns:a16="http://schemas.microsoft.com/office/drawing/2014/main" id="{AE35E050-4339-0B19-F347-7C1C5135BF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79143" y="1685539"/>
            <a:ext cx="5221625" cy="3486922"/>
          </a:xfrm>
          <a:prstGeom prst="rect">
            <a:avLst/>
          </a:prstGeom>
        </p:spPr>
      </p:pic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9122E3C9-9AFD-E936-BB93-C08EC6500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2583" y="2645922"/>
            <a:ext cx="4434721" cy="371042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Model</a:t>
            </a: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Contiene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la logica del gioco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i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dati.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Esempi: Statistiche del personaggio (HP, </a:t>
            </a:r>
            <a:r>
              <a:rPr lang="it-IT" sz="2000" noProof="0" dirty="0" err="1">
                <a:solidFill>
                  <a:schemeClr val="tx1">
                    <a:alpha val="80000"/>
                  </a:schemeClr>
                </a:solidFill>
              </a:rPr>
              <a:t>livello,nemici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oggetti)</a:t>
            </a:r>
          </a:p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Non sa nulla di come il gioco viene mostrato a schermo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559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 useBgFill="1">
        <p:nvSpPr>
          <p:cNvPr id="65" name="Rectangle 56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itolo 14">
            <a:extLst>
              <a:ext uri="{FF2B5EF4-FFF2-40B4-BE49-F238E27FC236}">
                <a16:creationId xmlns:a16="http://schemas.microsoft.com/office/drawing/2014/main" id="{3B94AEE3-36EC-F0A3-4168-CEBD5A78E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b="1" noProof="0" dirty="0"/>
              <a:t>View</a:t>
            </a:r>
          </a:p>
        </p:txBody>
      </p:sp>
      <p:sp>
        <p:nvSpPr>
          <p:cNvPr id="26" name="Segnaposto contenuto 25">
            <a:extLst>
              <a:ext uri="{FF2B5EF4-FFF2-40B4-BE49-F238E27FC236}">
                <a16:creationId xmlns:a16="http://schemas.microsoft.com/office/drawing/2014/main" id="{2B0BFD1F-F9F0-6C85-B2F2-56AF6D754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2400" noProof="0" dirty="0"/>
              <a:t>Si occupa solo della visualizzazione</a:t>
            </a:r>
          </a:p>
          <a:p>
            <a:pPr marL="0" indent="0">
              <a:buNone/>
            </a:pPr>
            <a:r>
              <a:rPr lang="it-IT" sz="2400" noProof="0" dirty="0"/>
              <a:t>Esempi: Sprite del personaggio, Mappa 2D</a:t>
            </a:r>
          </a:p>
          <a:p>
            <a:pPr marL="0" lvl="1" indent="0">
              <a:buNone/>
            </a:pPr>
            <a:r>
              <a:rPr lang="it-IT" noProof="0" dirty="0"/>
              <a:t>HUD (vita, mana, XP).</a:t>
            </a:r>
          </a:p>
          <a:p>
            <a:pPr marL="0" indent="0">
              <a:buNone/>
            </a:pPr>
            <a:r>
              <a:rPr lang="it-IT" sz="2400" noProof="0" dirty="0"/>
              <a:t>Mostra i dati del Model, senza modificarli</a:t>
            </a:r>
          </a:p>
          <a:p>
            <a:pPr marL="0" indent="0">
              <a:buNone/>
            </a:pPr>
            <a:endParaRPr lang="it-IT" sz="2000" noProof="0" dirty="0"/>
          </a:p>
        </p:txBody>
      </p:sp>
      <p:pic>
        <p:nvPicPr>
          <p:cNvPr id="30" name="Immagine 29" descr="Immagine che contiene arredo, testo, computer, scrivania&#10;&#10;Il contenuto generato dall'IA potrebbe non essere corretto.">
            <a:extLst>
              <a:ext uri="{FF2B5EF4-FFF2-40B4-BE49-F238E27FC236}">
                <a16:creationId xmlns:a16="http://schemas.microsoft.com/office/drawing/2014/main" id="{72E1180B-DC65-62BE-DCB4-FF7A45F12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6444" r="2415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158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pic>
        <p:nvPicPr>
          <p:cNvPr id="48" name="Picture 47" descr="Primo piano di una tastiera">
            <a:extLst>
              <a:ext uri="{FF2B5EF4-FFF2-40B4-BE49-F238E27FC236}">
                <a16:creationId xmlns:a16="http://schemas.microsoft.com/office/drawing/2014/main" id="{5682FAB9-08F9-45D1-9B79-0C88A63A52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24" b="42668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9D73445A-EF6D-860D-B339-892CF21E8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Controller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3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15B267-E634-0AC5-888F-FED8052D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288536"/>
            <a:ext cx="5692774" cy="1557406"/>
          </a:xfrm>
        </p:spPr>
        <p:txBody>
          <a:bodyPr anchor="ctr">
            <a:normAutofit lnSpcReduction="10000"/>
          </a:bodyPr>
          <a:lstStyle/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Gestisce le azioni del giocatore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Esempi: Movimento con tastiera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Attacco, Interazione con NPC.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Riceve input → aggiorna il Model → aggiorna la View</a:t>
            </a:r>
          </a:p>
          <a:p>
            <a:pPr marL="0" indent="0">
              <a:buNone/>
            </a:pPr>
            <a:endParaRPr lang="it-IT" sz="1900" noProof="0" dirty="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19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22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24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F361050-6AB5-603E-5284-781485D4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Il Nostro MVC</a:t>
            </a:r>
          </a:p>
        </p:txBody>
      </p:sp>
      <p:pic>
        <p:nvPicPr>
          <p:cNvPr id="5" name="Segnaposto contenuto 4" descr="Immagine che contiene testo, schermata, numero&#10;&#10;Il contenuto generato dall'IA potrebbe non essere corretto.">
            <a:extLst>
              <a:ext uri="{FF2B5EF4-FFF2-40B4-BE49-F238E27FC236}">
                <a16:creationId xmlns:a16="http://schemas.microsoft.com/office/drawing/2014/main" id="{EA41D562-640E-2B78-4947-E36B33BCF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700" y="1927817"/>
            <a:ext cx="8762599" cy="4666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19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E199178-BFAD-B3DE-D4E5-C9274627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108" y="1109350"/>
            <a:ext cx="3983298" cy="4238118"/>
          </a:xfrm>
        </p:spPr>
        <p:txBody>
          <a:bodyPr>
            <a:normAutofit/>
          </a:bodyPr>
          <a:lstStyle/>
          <a:p>
            <a:pPr algn="ctr"/>
            <a:r>
              <a:rPr lang="it-IT" noProof="0" dirty="0">
                <a:solidFill>
                  <a:schemeClr val="bg1"/>
                </a:solidFill>
              </a:rPr>
              <a:t>User Story 1: Game </a:t>
            </a:r>
            <a:r>
              <a:rPr lang="it-IT" noProof="0" dirty="0" err="1">
                <a:solidFill>
                  <a:schemeClr val="bg1"/>
                </a:solidFill>
              </a:rPr>
              <a:t>Launch</a:t>
            </a:r>
            <a:endParaRPr lang="it-IT" noProof="0" dirty="0">
              <a:solidFill>
                <a:schemeClr val="bg1"/>
              </a:solidFill>
            </a:endParaRP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32A182A-E0DB-1A01-C2BF-5D73F1BDD8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411672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4403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" name="Rectangle 7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76" name="Arc 75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04A9699-8EA8-B71D-05A7-EA3FA61BD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224" y="511293"/>
            <a:ext cx="3045297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49" name="Segnaposto contenuto 2">
            <a:extLst>
              <a:ext uri="{FF2B5EF4-FFF2-40B4-BE49-F238E27FC236}">
                <a16:creationId xmlns:a16="http://schemas.microsoft.com/office/drawing/2014/main" id="{B08F4235-59C9-7B9D-A235-989DE1BA8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6387" y="154629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600" noProof="0" dirty="0"/>
              <a:t>Il Game </a:t>
            </a:r>
            <a:r>
              <a:rPr lang="it-IT" sz="2600" noProof="0" dirty="0" err="1"/>
              <a:t>Launcher</a:t>
            </a:r>
            <a:r>
              <a:rPr lang="it-IT" sz="2600" noProof="0" dirty="0"/>
              <a:t> viene implementato come Singleton per garantire l’esistenza di una sola istanza responsabile dell’inizializzazione del gioco e della visualizzazione del menu principale. Tale scelta evita conflitti nella fase di avvio, semplifica la gestione dello stato iniziale e offre un punto di accesso globale sicuro e controllato</a:t>
            </a:r>
          </a:p>
          <a:p>
            <a:pPr marL="0" indent="0">
              <a:buNone/>
            </a:pPr>
            <a:endParaRPr lang="it-IT" sz="2600" noProof="0" dirty="0"/>
          </a:p>
          <a:p>
            <a:pPr marL="0" indent="0">
              <a:buNone/>
            </a:pPr>
            <a:endParaRPr lang="it-IT" sz="2600" noProof="0" dirty="0"/>
          </a:p>
        </p:txBody>
      </p:sp>
    </p:spTree>
    <p:extLst>
      <p:ext uri="{BB962C8B-B14F-4D97-AF65-F5344CB8AC3E}">
        <p14:creationId xmlns:p14="http://schemas.microsoft.com/office/powerpoint/2010/main" val="843470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23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2" name="Rectangle 25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FB940C-1B7E-9608-13CD-6297D1DB2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3: Start game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43" name="Segnaposto contenuto 2">
            <a:extLst>
              <a:ext uri="{FF2B5EF4-FFF2-40B4-BE49-F238E27FC236}">
                <a16:creationId xmlns:a16="http://schemas.microsoft.com/office/drawing/2014/main" id="{169C2347-1E39-EA13-2ED1-B4BEAD46B9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06755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0467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7FC097-400F-C120-6F47-005979D6F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376" y="1175657"/>
            <a:ext cx="5229245" cy="4929868"/>
          </a:xfrm>
        </p:spPr>
        <p:txBody>
          <a:bodyPr vert="horz" lIns="91440" tIns="45720" rIns="91440" bIns="45720" rtlCol="0">
            <a:normAutofit fontScale="85000" lnSpcReduction="20000"/>
          </a:bodyPr>
          <a:lstStyle/>
          <a:p>
            <a:pPr marL="0" indent="0">
              <a:buNone/>
            </a:pPr>
            <a:r>
              <a:rPr lang="it-IT" sz="2600" noProof="0" dirty="0"/>
              <a:t>L’utilizzo del  design pattern Factory è dovuto alla necessità di creare diversi tipi di </a:t>
            </a:r>
            <a:r>
              <a:rPr lang="it-IT" sz="2600" noProof="0" dirty="0" err="1"/>
              <a:t>ConcreteGame</a:t>
            </a:r>
            <a:r>
              <a:rPr lang="it-IT" sz="2600" noProof="0" dirty="0"/>
              <a:t> che sono sottoclassi della classe astratta Game. </a:t>
            </a:r>
          </a:p>
          <a:p>
            <a:pPr marL="0" indent="0">
              <a:buNone/>
            </a:pPr>
            <a:r>
              <a:rPr lang="it-IT" sz="2600" noProof="0" dirty="0"/>
              <a:t>Questo è il design pattern più adatto perché le classi concrete sono incapsulate e non vengono mai chiamate esplicitamente dal client, che può utilizzarle liberamente senza preoccuparsi dei substrati interni.</a:t>
            </a:r>
          </a:p>
          <a:p>
            <a:pPr marL="0" indent="0">
              <a:buNone/>
            </a:pPr>
            <a:r>
              <a:rPr lang="it-IT" sz="2600" noProof="0" dirty="0"/>
              <a:t>Nel dettaglio, c'è un'importante differenza tra le classi. Infatti, </a:t>
            </a:r>
            <a:r>
              <a:rPr lang="it-IT" sz="2600" noProof="0" dirty="0" err="1"/>
              <a:t>NewGame</a:t>
            </a:r>
            <a:r>
              <a:rPr lang="it-IT" sz="2600" noProof="0" dirty="0"/>
              <a:t> chiederà quanti giocatori stanno giocando e permetterà loro di scegliere le proprie classi, mentre </a:t>
            </a:r>
            <a:r>
              <a:rPr lang="it-IT" sz="2600" noProof="0" dirty="0" err="1"/>
              <a:t>ContinueGame</a:t>
            </a:r>
            <a:r>
              <a:rPr lang="it-IT" sz="2600" noProof="0" dirty="0"/>
              <a:t> caricherà queste informazioni (e altre) dal file e permetterà ai giocatori di continuare la partita dal punto in cui hanno salvato.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Immagine 3">
            <a:extLst>
              <a:ext uri="{FF2B5EF4-FFF2-40B4-BE49-F238E27FC236}">
                <a16:creationId xmlns:a16="http://schemas.microsoft.com/office/drawing/2014/main" id="{32E0C66B-EC88-B831-887F-AFD9EE548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231750"/>
            <a:ext cx="5129784" cy="248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727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9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E3AF927-B7A3-3DD5-813A-E8DAE7ABB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it-IT" sz="3700" noProof="0"/>
              <a:t>User Story 13: Exploration Movement</a:t>
            </a:r>
          </a:p>
        </p:txBody>
      </p:sp>
      <p:sp>
        <p:nvSpPr>
          <p:cNvPr id="20" name="Segnaposto contenuto 2">
            <a:extLst>
              <a:ext uri="{FF2B5EF4-FFF2-40B4-BE49-F238E27FC236}">
                <a16:creationId xmlns:a16="http://schemas.microsoft.com/office/drawing/2014/main" id="{70607F9C-BB35-EA95-8FB8-E395FEBFA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900" noProof="0" dirty="0" err="1"/>
              <a:t>As</a:t>
            </a:r>
            <a:r>
              <a:rPr lang="it-IT" sz="1900" noProof="0" dirty="0"/>
              <a:t> a player, I </a:t>
            </a:r>
            <a:r>
              <a:rPr lang="it-IT" sz="1900" noProof="0" dirty="0" err="1"/>
              <a:t>want</a:t>
            </a:r>
            <a:r>
              <a:rPr lang="it-IT" sz="1900" noProof="0" dirty="0"/>
              <a:t> to control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</a:t>
            </a:r>
            <a:r>
              <a:rPr lang="it-IT" sz="1900" noProof="0" dirty="0" err="1"/>
              <a:t>during</a:t>
            </a:r>
            <a:r>
              <a:rPr lang="it-IT" sz="1900" noProof="0" dirty="0"/>
              <a:t> </a:t>
            </a:r>
            <a:r>
              <a:rPr lang="it-IT" sz="1900" noProof="0" dirty="0" err="1"/>
              <a:t>exploration</a:t>
            </a:r>
            <a:r>
              <a:rPr lang="it-IT" sz="1900" noProof="0" dirty="0"/>
              <a:t>, so </a:t>
            </a:r>
            <a:r>
              <a:rPr lang="it-IT" sz="1900" noProof="0" dirty="0" err="1"/>
              <a:t>that</a:t>
            </a:r>
            <a:r>
              <a:rPr lang="it-IT" sz="1900" noProof="0" dirty="0"/>
              <a:t>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follows </a:t>
            </a:r>
            <a:r>
              <a:rPr lang="it-IT" sz="1900" noProof="0" dirty="0" err="1"/>
              <a:t>my</a:t>
            </a:r>
            <a:r>
              <a:rPr lang="it-IT" sz="1900" noProof="0" dirty="0"/>
              <a:t> </a:t>
            </a:r>
            <a:r>
              <a:rPr lang="it-IT" sz="1900" noProof="0" dirty="0" err="1"/>
              <a:t>movements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 err="1"/>
              <a:t>acceptance</a:t>
            </a:r>
            <a:r>
              <a:rPr lang="it-IT" sz="1900" noProof="0" dirty="0"/>
              <a:t> </a:t>
            </a:r>
            <a:r>
              <a:rPr lang="it-IT" sz="1900" noProof="0" dirty="0" err="1"/>
              <a:t>criteria</a:t>
            </a:r>
            <a:r>
              <a:rPr lang="it-IT" sz="1900" noProof="0" dirty="0"/>
              <a:t>: the game </a:t>
            </a:r>
            <a:r>
              <a:rPr lang="it-IT" sz="1900" noProof="0" dirty="0" err="1"/>
              <a:t>allows</a:t>
            </a:r>
            <a:r>
              <a:rPr lang="it-IT" sz="1900" noProof="0" dirty="0"/>
              <a:t>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to </a:t>
            </a:r>
            <a:r>
              <a:rPr lang="it-IT" sz="1900" noProof="0" dirty="0" err="1"/>
              <a:t>move</a:t>
            </a:r>
            <a:r>
              <a:rPr lang="it-IT" sz="1900" noProof="0" dirty="0"/>
              <a:t> </a:t>
            </a:r>
            <a:r>
              <a:rPr lang="it-IT" sz="1900" noProof="0" dirty="0" err="1"/>
              <a:t>around</a:t>
            </a:r>
            <a:r>
              <a:rPr lang="it-IT" sz="1900" noProof="0" dirty="0"/>
              <a:t> the </a:t>
            </a:r>
            <a:r>
              <a:rPr lang="it-IT" sz="1900" noProof="0" dirty="0" err="1"/>
              <a:t>map</a:t>
            </a:r>
            <a:r>
              <a:rPr lang="it-IT" sz="1900" noProof="0" dirty="0"/>
              <a:t>, with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following </a:t>
            </a:r>
            <a:r>
              <a:rPr lang="it-IT" sz="1900" noProof="0" dirty="0" err="1"/>
              <a:t>behind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/>
              <a:t>Pattern usato: viene implementato usando il pattern Observer, in modo che il </a:t>
            </a:r>
            <a:r>
              <a:rPr lang="it-IT" sz="1900" noProof="0" dirty="0" err="1"/>
              <a:t>MovementController</a:t>
            </a:r>
            <a:r>
              <a:rPr lang="it-IT" sz="1900" noProof="0" dirty="0"/>
              <a:t> cambi solo la posizione del primo giocatore nel party e i giocatori che seguono reagiscano al cambiamento della posizione.</a:t>
            </a:r>
          </a:p>
        </p:txBody>
      </p:sp>
      <p:pic>
        <p:nvPicPr>
          <p:cNvPr id="21" name="Picture 4" descr="Pila di dadi su un tabellone di gioco">
            <a:extLst>
              <a:ext uri="{FF2B5EF4-FFF2-40B4-BE49-F238E27FC236}">
                <a16:creationId xmlns:a16="http://schemas.microsoft.com/office/drawing/2014/main" id="{8EA8557E-F36F-9D12-EC50-C589C7D57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01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24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BAE4FCD-EA86-320F-42E2-DD8B633F0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it-IT" sz="4000" noProof="0" dirty="0">
                <a:solidFill>
                  <a:srgbClr val="FFFFFF"/>
                </a:solidFill>
              </a:rPr>
              <a:t>User Story 14: Fighting </a:t>
            </a:r>
            <a:r>
              <a:rPr lang="it-IT" sz="4000" noProof="0" dirty="0" err="1">
                <a:solidFill>
                  <a:srgbClr val="FFFFFF"/>
                </a:solidFill>
              </a:rPr>
              <a:t>Enemies</a:t>
            </a:r>
            <a:endParaRPr lang="it-IT" sz="4000" noProof="0" dirty="0">
              <a:solidFill>
                <a:srgbClr val="FFFFFF"/>
              </a:solidFill>
            </a:endParaRPr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BED156A3-D3F8-6959-00A8-8A84C798DB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692432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9327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0E8975-FF12-8495-2317-E2B869E9B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3803" y="1725960"/>
            <a:ext cx="3455821" cy="3426956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it-IT" sz="2400" noProof="0" dirty="0"/>
              <a:t>Usiamo il pattern Strategy per dividere le logiche diverse di ogni azione (danno, effetti…). Quindi, ci permette di incapsulare la logica di ciascuna azione in classi separate. </a:t>
            </a:r>
          </a:p>
          <a:p>
            <a:pPr marL="0" indent="0">
              <a:buNone/>
            </a:pPr>
            <a:r>
              <a:rPr lang="it-IT" sz="2400" noProof="0" dirty="0"/>
              <a:t>Il Pattern Observer separa la logica di gioco dall’interfaccia utente e permette al </a:t>
            </a:r>
            <a:r>
              <a:rPr lang="it-IT" sz="2400" noProof="0" dirty="0" err="1"/>
              <a:t>combat</a:t>
            </a:r>
            <a:r>
              <a:rPr lang="it-IT" sz="2400" noProof="0" dirty="0"/>
              <a:t> system di notificare automaticamente tutti gli osservatori.</a:t>
            </a:r>
          </a:p>
        </p:txBody>
      </p:sp>
      <p:pic>
        <p:nvPicPr>
          <p:cNvPr id="4" name="Immagine 3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EA2825FC-405B-4B74-0505-9580B77FD3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7672" y="742143"/>
            <a:ext cx="6389346" cy="538302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77663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709375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543451" y="1248213"/>
            <a:ext cx="5413238" cy="43263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2D85722-1F1D-306C-359A-608C48814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15: </a:t>
            </a:r>
            <a:r>
              <a:rPr lang="it-IT" noProof="0" dirty="0" err="1"/>
              <a:t>Damage</a:t>
            </a:r>
            <a:r>
              <a:rPr lang="it-IT" noProof="0" dirty="0"/>
              <a:t>, </a:t>
            </a:r>
            <a:r>
              <a:rPr lang="it-IT" noProof="0" dirty="0" err="1"/>
              <a:t>effect</a:t>
            </a:r>
            <a:r>
              <a:rPr lang="it-IT" noProof="0" dirty="0"/>
              <a:t> &amp; </a:t>
            </a:r>
            <a:r>
              <a:rPr lang="it-IT" noProof="0" dirty="0" err="1"/>
              <a:t>healing</a:t>
            </a:r>
            <a:r>
              <a:rPr lang="it-IT" noProof="0" dirty="0"/>
              <a:t> </a:t>
            </a:r>
            <a:r>
              <a:rPr lang="it-IT" noProof="0" dirty="0" err="1"/>
              <a:t>calculation</a:t>
            </a:r>
            <a:br>
              <a:rPr lang="it-IT" b="1" noProof="0" dirty="0"/>
            </a:br>
            <a:endParaRPr lang="it-IT" noProof="0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CA8C4A48-9E5A-3736-8CA9-0DEB8312F6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0513538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1716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95F97C-D43F-25C3-4F5E-6754BD37571A}"/>
              </a:ext>
            </a:extLst>
          </p:cNvPr>
          <p:cNvSpPr txBox="1"/>
          <p:nvPr/>
        </p:nvSpPr>
        <p:spPr>
          <a:xfrm>
            <a:off x="317414" y="1347986"/>
            <a:ext cx="6099350" cy="37452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it-IT" noProof="0" dirty="0"/>
              <a:t>Questa funzionalità è importante perché i giocatori hanno bisogno di un feedback immediato e accurato sull'esito di ogni turno. Facendo in modo che il sistema calcoli automaticamente danni, effetti e cure, il gioco garantisce coerenza, evita errori manuali e mantiene il gameplay fluido e coinvolgente. L'utilizzo del pattern Strategy consente di estendere o modificare facilmente diversi comportamenti di combattimento, mentre il pattern Observer assicura che qualsiasi cambiamento nello stato di combattimento venga immediatamente riflesso nell'interfaccia utente.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Segnaposto contenuto 3" descr="Immagine che contiene testo, schermata, diagramma, software&#10;&#10;Il contenuto generato dall'IA potrebbe non essere corretto.">
            <a:extLst>
              <a:ext uri="{FF2B5EF4-FFF2-40B4-BE49-F238E27FC236}">
                <a16:creationId xmlns:a16="http://schemas.microsoft.com/office/drawing/2014/main" id="{6F17C86B-2BF2-C674-4049-5E1EABA65E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63206" y="723481"/>
            <a:ext cx="4540918" cy="535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67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28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6" name="Rectangle 30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28D9045-53DE-0906-86CA-5DB608744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16: Turn </a:t>
            </a:r>
            <a:r>
              <a:rPr lang="it-IT" sz="4000" noProof="0" dirty="0" err="1">
                <a:solidFill>
                  <a:schemeClr val="tx2"/>
                </a:solidFill>
              </a:rPr>
              <a:t>based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battles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pSp>
        <p:nvGrpSpPr>
          <p:cNvPr id="47" name="Group 32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48" name="Freeform: Shape 33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49" name="Freeform: Shape 34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0" name="Freeform: Shape 35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51" name="Freeform: Shape 36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52" name="Group 38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53" name="Freeform: Shape 39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4" name="Freeform: Shape 40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5" name="Freeform: Shape 41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42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D5059199-566D-3995-1ABC-7E97541A47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456297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648122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A440A548-C0D4-4418-940E-EDC2F1D9A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E708B267-8CD2-4684-A57B-9F1070769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41E5AB36-9328-47E9-95AD-E38AC1C0E1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532450F-A219-4BF5-88FA-A47084237C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35AC662-4000-411A-9E33-6A4B6C0FC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01D44A9-1D51-461B-A228-06F6C500B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4BDCFA3-5510-69D4-023C-A4A14115FDE1}"/>
              </a:ext>
            </a:extLst>
          </p:cNvPr>
          <p:cNvSpPr txBox="1"/>
          <p:nvPr/>
        </p:nvSpPr>
        <p:spPr>
          <a:xfrm>
            <a:off x="6724528" y="16944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Strategy</a:t>
            </a:r>
            <a:r>
              <a:rPr lang="it-IT" noProof="0" dirty="0">
                <a:solidFill>
                  <a:schemeClr val="tx2"/>
                </a:solidFill>
              </a:rPr>
              <a:t> fornisce un'interfaccia (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) che permette di darle diverse implementazioni, il che implica che si possono far scorrere i turni in modi differenti.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Abbiamo implementato un ordinamento delle azioni in un turno basato un valore di </a:t>
            </a:r>
            <a:r>
              <a:rPr lang="it-IT" i="1" noProof="0" dirty="0">
                <a:solidFill>
                  <a:schemeClr val="tx2"/>
                </a:solidFill>
              </a:rPr>
              <a:t>speed </a:t>
            </a:r>
            <a:r>
              <a:rPr lang="it-IT" noProof="0" dirty="0">
                <a:solidFill>
                  <a:schemeClr val="tx2"/>
                </a:solidFill>
              </a:rPr>
              <a:t>statico.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Tutti i personaggi vengono ordinati dal più veloce al più lento ed eseguono un'azione in base a questa permutazione. La velocità è statica perché le modifiche a questa statistica durante il turno non vengono prese in considerazione e si applicheranno a partire dal turno successivo.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Iterator </a:t>
            </a:r>
            <a:r>
              <a:rPr lang="it-IT" noProof="0" dirty="0">
                <a:solidFill>
                  <a:schemeClr val="tx2"/>
                </a:solidFill>
              </a:rPr>
              <a:t>fornisce un'interfaccia che consente il flusso dei turni in base alla 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, restituendo il personaggio successivo che deve eseguire un'azione fino alla fine del turno.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Un turno termina quando l'ultimo personaggio ha eseguito un'azione e ciò può essere verificato tramite il metodo </a:t>
            </a:r>
            <a:r>
              <a:rPr lang="it-IT" noProof="0" dirty="0" err="1">
                <a:solidFill>
                  <a:schemeClr val="tx2"/>
                </a:solidFill>
              </a:rPr>
              <a:t>nextCharacter</a:t>
            </a:r>
            <a:r>
              <a:rPr lang="it-IT" noProof="0" dirty="0">
                <a:solidFill>
                  <a:schemeClr val="tx2"/>
                </a:solidFill>
              </a:rPr>
              <a:t>. Il design pattern rende possibile utilizzare diverse strutture dati per allocare i </a:t>
            </a:r>
            <a:r>
              <a:rPr lang="it-IT" i="1" noProof="0" dirty="0" err="1">
                <a:solidFill>
                  <a:schemeClr val="tx2"/>
                </a:solidFill>
              </a:rPr>
              <a:t>Character</a:t>
            </a:r>
            <a:r>
              <a:rPr lang="it-IT" i="1" noProof="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3" name="Immagine 2" descr="Immagine che contiene testo, diagramma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127871F6-5228-AB41-39F7-74E16A617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" y="574431"/>
            <a:ext cx="6728541" cy="526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570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2EDE30-5785-EADE-CE57-784CC0C73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F2329128-55BA-8D31-A820-03D962E651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C50695FB-B6AE-C41A-0939-9594A9AC5D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DBAE1A83-2E02-7C43-B24A-FA3CEF52C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539C7B1-7D0A-4255-CE49-EC2CD771F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C0206BF-9123-38FC-F106-048F957685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B13F8536-69D8-6880-BAA9-214489134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5198A5F-9277-95CD-7C25-65243AF83D0A}"/>
              </a:ext>
            </a:extLst>
          </p:cNvPr>
          <p:cNvSpPr txBox="1"/>
          <p:nvPr/>
        </p:nvSpPr>
        <p:spPr>
          <a:xfrm>
            <a:off x="6724528" y="16944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dirty="0">
                <a:solidFill>
                  <a:schemeClr val="tx2"/>
                </a:solidFill>
              </a:rPr>
              <a:t>Adapter </a:t>
            </a:r>
            <a:r>
              <a:rPr lang="it-IT" dirty="0">
                <a:solidFill>
                  <a:schemeClr val="tx2"/>
                </a:solidFill>
              </a:rPr>
              <a:t>permette di convertire la risorsa testuale "</a:t>
            </a:r>
            <a:r>
              <a:rPr lang="it-IT" dirty="0" err="1">
                <a:solidFill>
                  <a:schemeClr val="tx2"/>
                </a:solidFill>
              </a:rPr>
              <a:t>moves.json</a:t>
            </a:r>
            <a:r>
              <a:rPr lang="it-IT" dirty="0">
                <a:solidFill>
                  <a:schemeClr val="tx2"/>
                </a:solidFill>
              </a:rPr>
              <a:t>" in una List&lt;</a:t>
            </a:r>
            <a:r>
              <a:rPr lang="it-IT" dirty="0" err="1">
                <a:solidFill>
                  <a:schemeClr val="tx2"/>
                </a:solidFill>
              </a:rPr>
              <a:t>Move</a:t>
            </a:r>
            <a:r>
              <a:rPr lang="it-IT" dirty="0">
                <a:solidFill>
                  <a:schemeClr val="tx2"/>
                </a:solidFill>
              </a:rPr>
              <a:t>&gt; tramite la classe </a:t>
            </a:r>
            <a:r>
              <a:rPr lang="it-IT" dirty="0" err="1">
                <a:solidFill>
                  <a:schemeClr val="tx2"/>
                </a:solidFill>
              </a:rPr>
              <a:t>MoveReader</a:t>
            </a:r>
            <a:r>
              <a:rPr lang="it-IT" dirty="0">
                <a:solidFill>
                  <a:schemeClr val="tx2"/>
                </a:solidFill>
              </a:rPr>
              <a:t> senza che il consumatore della List&lt;</a:t>
            </a:r>
            <a:r>
              <a:rPr lang="it-IT" dirty="0" err="1">
                <a:solidFill>
                  <a:schemeClr val="tx2"/>
                </a:solidFill>
              </a:rPr>
              <a:t>Move</a:t>
            </a:r>
            <a:r>
              <a:rPr lang="it-IT" dirty="0">
                <a:solidFill>
                  <a:schemeClr val="tx2"/>
                </a:solidFill>
              </a:rPr>
              <a:t>&gt; </a:t>
            </a:r>
            <a:br>
              <a:rPr lang="it-IT" dirty="0">
                <a:solidFill>
                  <a:schemeClr val="tx2"/>
                </a:solidFill>
              </a:rPr>
            </a:br>
            <a:r>
              <a:rPr lang="it-IT" dirty="0">
                <a:solidFill>
                  <a:schemeClr val="tx2"/>
                </a:solidFill>
              </a:rPr>
              <a:t>(</a:t>
            </a:r>
            <a:r>
              <a:rPr lang="it-IT" dirty="0" err="1">
                <a:solidFill>
                  <a:schemeClr val="tx2"/>
                </a:solidFill>
              </a:rPr>
              <a:t>MoveRegistry</a:t>
            </a:r>
            <a:r>
              <a:rPr lang="it-IT" dirty="0">
                <a:solidFill>
                  <a:schemeClr val="tx2"/>
                </a:solidFill>
              </a:rPr>
              <a:t>) ne conosca i dettagli implementativi.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it-IT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dirty="0"/>
              <a:t>Abbiamo scelto di rappresentare </a:t>
            </a:r>
            <a:r>
              <a:rPr lang="it-IT" dirty="0" err="1"/>
              <a:t>MoveRegistry</a:t>
            </a:r>
            <a:r>
              <a:rPr lang="it-IT" dirty="0"/>
              <a:t> con un </a:t>
            </a:r>
            <a:r>
              <a:rPr lang="it-IT" b="1" dirty="0"/>
              <a:t>Singleton </a:t>
            </a:r>
            <a:r>
              <a:rPr lang="it-IT" dirty="0"/>
              <a:t>perché esso rappresenta un database di mosse che mappa una </a:t>
            </a:r>
            <a:r>
              <a:rPr lang="it-IT" i="1" dirty="0" err="1"/>
              <a:t>String</a:t>
            </a:r>
            <a:r>
              <a:rPr lang="it-IT" dirty="0"/>
              <a:t> alla rispettiva </a:t>
            </a:r>
            <a:r>
              <a:rPr lang="it-IT" i="1" dirty="0" err="1"/>
              <a:t>ActionStrategy</a:t>
            </a:r>
            <a:r>
              <a:rPr lang="it-IT" dirty="0"/>
              <a:t>, contenendo dunque un database di </a:t>
            </a:r>
            <a:r>
              <a:rPr lang="it-IT" i="1" dirty="0" err="1"/>
              <a:t>Move</a:t>
            </a:r>
            <a:r>
              <a:rPr lang="it-IT" dirty="0"/>
              <a:t> con le rispettive caratteristiche di esecuzione.</a:t>
            </a:r>
            <a:br>
              <a:rPr lang="it-IT" dirty="0">
                <a:solidFill>
                  <a:schemeClr val="tx2"/>
                </a:solidFill>
              </a:rPr>
            </a:br>
            <a:br>
              <a:rPr lang="it-IT" dirty="0"/>
            </a:br>
            <a:endParaRPr lang="it-IT">
              <a:solidFill>
                <a:schemeClr val="tx2"/>
              </a:solidFill>
            </a:endParaRPr>
          </a:p>
        </p:txBody>
      </p:sp>
      <p:pic>
        <p:nvPicPr>
          <p:cNvPr id="3" name="Immagine 2" descr="Immagine che contiene testo, diagramma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9C4CE2B1-C621-F195-D978-AFCB2DA88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" y="607532"/>
            <a:ext cx="6728540" cy="538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2975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5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60885D2-5313-3658-C310-D5E5774C8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b="1">
                <a:solidFill>
                  <a:schemeClr val="bg1">
                    <a:lumMod val="95000"/>
                    <a:lumOff val="5000"/>
                  </a:schemeClr>
                </a:solidFill>
              </a:rPr>
              <a:t>Second Sprint</a:t>
            </a:r>
          </a:p>
        </p:txBody>
      </p:sp>
    </p:spTree>
    <p:extLst>
      <p:ext uri="{BB962C8B-B14F-4D97-AF65-F5344CB8AC3E}">
        <p14:creationId xmlns:p14="http://schemas.microsoft.com/office/powerpoint/2010/main" val="1064313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9D94-C5B0-5A73-F4E1-3351AD48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1A8DC0-0653-2E46-4255-BB85E9249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21</a:t>
            </a:r>
            <a:r>
              <a:rPr lang="it-IT" sz="4000" noProof="0" dirty="0">
                <a:solidFill>
                  <a:schemeClr val="tx2"/>
                </a:solidFill>
              </a:rPr>
              <a:t>:</a:t>
            </a:r>
            <a:r>
              <a:rPr lang="it-IT" sz="4000" dirty="0">
                <a:solidFill>
                  <a:schemeClr val="tx2"/>
                </a:solidFill>
              </a:rPr>
              <a:t> </a:t>
            </a:r>
            <a:r>
              <a:rPr lang="it-IT" sz="4000" dirty="0" err="1">
                <a:solidFill>
                  <a:schemeClr val="tx2"/>
                </a:solidFill>
              </a:rPr>
              <a:t>Map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8D61EF4E-7F56-FC7A-2660-F243CFD76E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8560664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816173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magine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901C1667-A162-C4C9-6CF7-08090A2C6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631881"/>
            <a:ext cx="4777381" cy="3424493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E24150-F559-A2BC-7444-70F684FF5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75855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Utilizziamo il pattern Builder perché, essendo </a:t>
            </a:r>
            <a:r>
              <a:rPr lang="it-IT" dirty="0" err="1"/>
              <a:t>Map</a:t>
            </a:r>
            <a:r>
              <a:rPr lang="it-IT" dirty="0"/>
              <a:t> un oggetto complesso, la costruzione avviene in più passi e viene separata dalla sua rappresentazione finale (</a:t>
            </a:r>
            <a:r>
              <a:rPr lang="it-IT" dirty="0" err="1"/>
              <a:t>ExplorationView</a:t>
            </a:r>
            <a:r>
              <a:rPr lang="it-IT" dirty="0"/>
              <a:t>)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49710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0B7E3-0FA7-1DB9-227F-F305E6D1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996028-F82A-208C-2232-6FD71E76B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4:Choose </a:t>
            </a:r>
            <a:r>
              <a:rPr lang="it-IT" sz="4000" noProof="0" dirty="0" err="1">
                <a:solidFill>
                  <a:schemeClr val="tx2"/>
                </a:solidFill>
              </a:rPr>
              <a:t>character</a:t>
            </a:r>
            <a:r>
              <a:rPr lang="it-IT" sz="4000" noProof="0" dirty="0">
                <a:solidFill>
                  <a:schemeClr val="tx2"/>
                </a:solidFill>
              </a:rPr>
              <a:t> job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C588D134-32B2-A027-35F5-1A4087CB07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788292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7784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172BFF1-D730-9613-42D3-8F0E0BED7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Abstract Factory?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48468F-34FD-318C-7481-995ADC614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</a:t>
            </a:r>
            <a:r>
              <a:rPr lang="en-US" dirty="0" err="1"/>
              <a:t>viene</a:t>
            </a:r>
            <a:r>
              <a:rPr lang="en-US" dirty="0"/>
              <a:t>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l’</a:t>
            </a:r>
            <a:r>
              <a:rPr lang="en-US" b="1" dirty="0" err="1"/>
              <a:t>Abstract</a:t>
            </a:r>
            <a:r>
              <a:rPr lang="en-US" b="1" dirty="0"/>
              <a:t> Factory </a:t>
            </a:r>
            <a:r>
              <a:rPr lang="en-US" dirty="0"/>
              <a:t>per </a:t>
            </a:r>
            <a:r>
              <a:rPr lang="en-US" dirty="0" err="1"/>
              <a:t>gestire</a:t>
            </a:r>
            <a:r>
              <a:rPr lang="en-US" dirty="0"/>
              <a:t> la </a:t>
            </a:r>
            <a:r>
              <a:rPr lang="en-US" dirty="0" err="1"/>
              <a:t>creazione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personaggi</a:t>
            </a:r>
            <a:r>
              <a:rPr lang="en-US" dirty="0"/>
              <a:t> di </a:t>
            </a:r>
            <a:r>
              <a:rPr lang="en-US" dirty="0" err="1"/>
              <a:t>gioco</a:t>
            </a:r>
            <a:r>
              <a:rPr lang="en-US" dirty="0"/>
              <a:t> in modo </a:t>
            </a:r>
            <a:r>
              <a:rPr lang="en-US" dirty="0" err="1"/>
              <a:t>flessibile</a:t>
            </a:r>
            <a:r>
              <a:rPr lang="en-US" dirty="0"/>
              <a:t> e </a:t>
            </a:r>
            <a:r>
              <a:rPr lang="en-US" dirty="0" err="1"/>
              <a:t>disaccoppiato</a:t>
            </a:r>
            <a:r>
              <a:rPr lang="en-US" dirty="0"/>
              <a:t> </a:t>
            </a:r>
            <a:r>
              <a:rPr lang="en-US" dirty="0" err="1"/>
              <a:t>quindi</a:t>
            </a:r>
            <a:r>
              <a:rPr lang="en-US" dirty="0"/>
              <a:t>, </a:t>
            </a:r>
            <a:r>
              <a:rPr lang="en-US" dirty="0" err="1"/>
              <a:t>dato</a:t>
            </a:r>
            <a:r>
              <a:rPr lang="en-US" dirty="0"/>
              <a:t> un Job, il Sistema </a:t>
            </a:r>
            <a:r>
              <a:rPr lang="en-US" dirty="0" err="1"/>
              <a:t>crea</a:t>
            </a:r>
            <a:r>
              <a:rPr lang="en-US" dirty="0"/>
              <a:t> Player ed Enemy </a:t>
            </a:r>
            <a:r>
              <a:rPr lang="en-US" dirty="0" err="1"/>
              <a:t>coerenti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loro senza </a:t>
            </a:r>
            <a:r>
              <a:rPr lang="en-US" dirty="0" err="1"/>
              <a:t>che</a:t>
            </a:r>
            <a:r>
              <a:rPr lang="en-US" dirty="0"/>
              <a:t> il </a:t>
            </a:r>
            <a:r>
              <a:rPr lang="en-US" b="1" dirty="0" err="1"/>
              <a:t>GameController</a:t>
            </a:r>
            <a:r>
              <a:rPr lang="en-US" b="1" dirty="0"/>
              <a:t> </a:t>
            </a:r>
            <a:r>
              <a:rPr lang="en-US" dirty="0"/>
              <a:t>ne </a:t>
            </a:r>
            <a:r>
              <a:rPr lang="en-US" dirty="0" err="1"/>
              <a:t>conosca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dettagli</a:t>
            </a:r>
            <a:r>
              <a:rPr lang="en-US" dirty="0"/>
              <a:t> di </a:t>
            </a:r>
            <a:r>
              <a:rPr lang="en-US" dirty="0" err="1"/>
              <a:t>implementazione</a:t>
            </a:r>
            <a:endParaRPr lang="en-US" dirty="0"/>
          </a:p>
          <a:p>
            <a:pPr marL="0" indent="0">
              <a:buNone/>
            </a:pPr>
            <a:endParaRPr lang="it-IT" sz="200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Immagine 3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7B3F348E-5D80-7FBE-1EBE-BD2BA690A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322" y="771383"/>
            <a:ext cx="3612107" cy="531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553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ABD1-E0E7-96E4-CEB3-A87CE52D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49C010-C0B6-7888-D3C9-35E21BC21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/>
              <a:t>US14-Fighting </a:t>
            </a:r>
            <a:r>
              <a:rPr lang="it-IT" sz="4000" noProof="0" dirty="0" err="1"/>
              <a:t>Enemies</a:t>
            </a:r>
            <a:endParaRPr lang="it-IT" sz="4000" noProof="0" dirty="0"/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62622F58-8D71-7F67-8CDA-03E58C5050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33125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8914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CD8CCC5-B55C-B7FF-2201-841E99B97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it-IT" dirty="0"/>
              <a:t>Perché Observer?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B90B5862-6A52-2FFF-E25C-23CBE848E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701903"/>
            <a:ext cx="4777381" cy="3284449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77A804-9CB6-48A1-4F53-653E61DFFF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è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mediante</a:t>
            </a:r>
            <a:r>
              <a:rPr lang="en-US" dirty="0"/>
              <a:t> il pattern </a:t>
            </a:r>
            <a:r>
              <a:rPr lang="en-US" b="1" dirty="0"/>
              <a:t>Observer </a:t>
            </a:r>
            <a:r>
              <a:rPr lang="en-US" dirty="0" err="1"/>
              <a:t>poiché</a:t>
            </a:r>
            <a:r>
              <a:rPr lang="en-US" dirty="0"/>
              <a:t> lo </a:t>
            </a:r>
            <a:r>
              <a:rPr lang="en-US" dirty="0" err="1"/>
              <a:t>stato</a:t>
            </a:r>
            <a:r>
              <a:rPr lang="en-US" dirty="0"/>
              <a:t> della </a:t>
            </a:r>
            <a:r>
              <a:rPr lang="en-US" dirty="0" err="1"/>
              <a:t>battaglia</a:t>
            </a:r>
            <a:r>
              <a:rPr lang="en-US" dirty="0"/>
              <a:t> varia </a:t>
            </a:r>
            <a:r>
              <a:rPr lang="en-US" dirty="0" err="1"/>
              <a:t>nel</a:t>
            </a:r>
            <a:r>
              <a:rPr lang="en-US" dirty="0"/>
              <a:t> tempo e la view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</a:t>
            </a:r>
            <a:r>
              <a:rPr lang="en-US" dirty="0" err="1"/>
              <a:t>aggiornata</a:t>
            </a:r>
            <a:r>
              <a:rPr lang="en-US" dirty="0"/>
              <a:t> </a:t>
            </a:r>
            <a:r>
              <a:rPr lang="en-US" dirty="0" err="1"/>
              <a:t>automaticamente</a:t>
            </a:r>
            <a:r>
              <a:rPr lang="en-US" dirty="0"/>
              <a:t> in </a:t>
            </a:r>
            <a:r>
              <a:rPr lang="en-US" dirty="0" err="1"/>
              <a:t>seguito</a:t>
            </a:r>
            <a:r>
              <a:rPr lang="en-US" dirty="0"/>
              <a:t> a </a:t>
            </a:r>
            <a:r>
              <a:rPr lang="en-US" dirty="0" err="1"/>
              <a:t>tali</a:t>
            </a:r>
            <a:r>
              <a:rPr lang="en-US" dirty="0"/>
              <a:t> </a:t>
            </a:r>
            <a:r>
              <a:rPr lang="en-US" dirty="0" err="1"/>
              <a:t>cambiamenti</a:t>
            </a:r>
            <a:r>
              <a:rPr lang="en-US" dirty="0"/>
              <a:t>, senza </a:t>
            </a:r>
            <a:r>
              <a:rPr lang="en-US" dirty="0" err="1"/>
              <a:t>introdurre</a:t>
            </a:r>
            <a:r>
              <a:rPr lang="en-US" dirty="0"/>
              <a:t> </a:t>
            </a:r>
            <a:r>
              <a:rPr lang="en-US" dirty="0" err="1"/>
              <a:t>dipendenze</a:t>
            </a:r>
            <a:r>
              <a:rPr lang="en-US" dirty="0"/>
              <a:t> </a:t>
            </a:r>
            <a:r>
              <a:rPr lang="en-US" dirty="0" err="1"/>
              <a:t>dirette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modello</a:t>
            </a:r>
            <a:r>
              <a:rPr lang="en-US" dirty="0"/>
              <a:t> e </a:t>
            </a:r>
            <a:r>
              <a:rPr lang="en-US" dirty="0" err="1"/>
              <a:t>interfaccia</a:t>
            </a:r>
            <a:r>
              <a:rPr lang="en-US" dirty="0"/>
              <a:t> </a:t>
            </a:r>
            <a:r>
              <a:rPr lang="en-US" dirty="0" err="1"/>
              <a:t>grafica</a:t>
            </a:r>
            <a:r>
              <a:rPr lang="en-US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029965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1AD04-AC4A-DFF8-0417-61D9A6E2C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3625D0-6DAF-31EA-D1DD-3D1A69DAB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</a:t>
            </a:r>
            <a:r>
              <a:rPr lang="it-IT" dirty="0"/>
              <a:t>18</a:t>
            </a:r>
            <a:r>
              <a:rPr lang="it-IT" noProof="0" dirty="0"/>
              <a:t>:Combat System &amp; </a:t>
            </a:r>
            <a:r>
              <a:rPr lang="it-IT" noProof="0" dirty="0" err="1"/>
              <a:t>Character</a:t>
            </a:r>
            <a:r>
              <a:rPr lang="it-IT" noProof="0" dirty="0"/>
              <a:t> </a:t>
            </a:r>
            <a:r>
              <a:rPr lang="it-IT" noProof="0" dirty="0" err="1"/>
              <a:t>Evolution</a:t>
            </a:r>
            <a:br>
              <a:rPr lang="it-IT" b="1" noProof="0" dirty="0"/>
            </a:br>
            <a:endParaRPr lang="it-IT" noProof="0" dirty="0"/>
          </a:p>
        </p:txBody>
      </p: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2B332C55-B022-AEC3-DD7D-58DAB138C1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2537050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067073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A724DBA-D2D9-471E-8ED7-2015DDD95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0AE4EB8-EA48-18FD-81FB-73AF1B34D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4" y="525982"/>
            <a:ext cx="4282983" cy="1200361"/>
          </a:xfrm>
        </p:spPr>
        <p:txBody>
          <a:bodyPr anchor="b">
            <a:normAutofit/>
          </a:bodyPr>
          <a:lstStyle/>
          <a:p>
            <a:r>
              <a:rPr lang="it-IT" sz="3600"/>
              <a:t>Perché questi pattern?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4641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0234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4E4D28EE-02E4-49D6-E9D8-1FC2CBBE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9" y="650494"/>
            <a:ext cx="4818347" cy="5324142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277786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D80CBB4-53A1-F4B5-CAF4-3176658E34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12" y="2031101"/>
            <a:ext cx="4282984" cy="37289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800" dirty="0"/>
              <a:t>Il </a:t>
            </a:r>
            <a:r>
              <a:rPr lang="it-IT" sz="1800" b="1" dirty="0"/>
              <a:t>Pattern Strategy</a:t>
            </a:r>
            <a:r>
              <a:rPr lang="it-IT" sz="1800" dirty="0"/>
              <a:t> è utilizzato per modellare le mosse come </a:t>
            </a:r>
            <a:r>
              <a:rPr lang="it-IT" sz="1800" b="1" dirty="0"/>
              <a:t>comportamenti intercambiabili</a:t>
            </a:r>
            <a:r>
              <a:rPr lang="it-IT" sz="1800" dirty="0"/>
              <a:t>, permettendo al Player di </a:t>
            </a:r>
            <a:r>
              <a:rPr lang="it-IT" sz="1800" b="1" dirty="0"/>
              <a:t>variare dinamicamente le azioni disponibili</a:t>
            </a:r>
            <a:r>
              <a:rPr lang="it-IT" sz="1800" dirty="0"/>
              <a:t> senza modificare la propria struttura interna.</a:t>
            </a:r>
          </a:p>
          <a:p>
            <a:pPr marL="0" indent="0">
              <a:buNone/>
            </a:pPr>
            <a:r>
              <a:rPr lang="it-IT" sz="1800" dirty="0"/>
              <a:t>Il </a:t>
            </a:r>
            <a:r>
              <a:rPr lang="it-IT" sz="1800" b="1" dirty="0"/>
              <a:t>Pattern Observer</a:t>
            </a:r>
            <a:r>
              <a:rPr lang="it-IT" sz="1800" dirty="0"/>
              <a:t> è utilizzato per </a:t>
            </a:r>
            <a:r>
              <a:rPr lang="it-IT" sz="1800" b="1" dirty="0"/>
              <a:t>notificare automaticamente la </a:t>
            </a:r>
            <a:r>
              <a:rPr lang="it-IT" sz="1800" b="1" dirty="0" err="1"/>
              <a:t>view</a:t>
            </a:r>
            <a:r>
              <a:rPr lang="it-IT" sz="1800" dirty="0"/>
              <a:t> ogni volta che l’esecuzione di una mossa </a:t>
            </a:r>
            <a:r>
              <a:rPr lang="it-IT" sz="1800" b="1" dirty="0"/>
              <a:t>modifica lo stato del model</a:t>
            </a:r>
            <a:r>
              <a:rPr lang="it-IT" sz="1800" dirty="0"/>
              <a:t>, mantenendo disaccoppiata la logica di gioco dall’interfaccia grafica.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677179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2286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F2BF-B85B-0BD5-1838-9F25A45F5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E1B5CC-3B4A-A1A8-2A97-9D9B9DA77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9</a:t>
            </a:r>
            <a:r>
              <a:rPr lang="it-IT" sz="4000" noProof="0" dirty="0">
                <a:solidFill>
                  <a:schemeClr val="tx2"/>
                </a:solidFill>
              </a:rPr>
              <a:t>:Manual </a:t>
            </a:r>
            <a:r>
              <a:rPr lang="it-IT" sz="4000" noProof="0" dirty="0" err="1">
                <a:solidFill>
                  <a:schemeClr val="tx2"/>
                </a:solidFill>
              </a:rPr>
              <a:t>save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into</a:t>
            </a:r>
            <a:r>
              <a:rPr lang="it-IT" sz="4000" noProof="0" dirty="0">
                <a:solidFill>
                  <a:schemeClr val="tx2"/>
                </a:solidFill>
              </a:rPr>
              <a:t> slot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E2C0A4EA-F99D-CC16-34EE-FE3F7EDF7C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3115791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82649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66F78EA-1130-5423-9540-238E8C797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Memento?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085AA6A-9148-A913-5715-6F1AEAD42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/>
              <a:t>Pattern Memento</a:t>
            </a:r>
            <a:r>
              <a:rPr lang="it-IT" sz="2000" dirty="0"/>
              <a:t> è utilizzato per salvare e ripristinare lo stato del gioco senza violare l’incapsulamento di </a:t>
            </a:r>
            <a:r>
              <a:rPr lang="it-IT" sz="2000" b="1" dirty="0" err="1"/>
              <a:t>GameState</a:t>
            </a:r>
            <a:r>
              <a:rPr lang="it-IT" sz="2000" b="1" dirty="0"/>
              <a:t> (Originator, che contiene lo stato della partita)</a:t>
            </a:r>
            <a:r>
              <a:rPr lang="it-IT" sz="2000" dirty="0"/>
              <a:t>, mantenendo separata la logica di gioco dalla gestione dei salvataggi.</a:t>
            </a:r>
          </a:p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 err="1"/>
              <a:t>GameStateMemento</a:t>
            </a:r>
            <a:r>
              <a:rPr lang="it-IT" sz="2000" b="1" dirty="0"/>
              <a:t> (Memento)</a:t>
            </a:r>
            <a:r>
              <a:rPr lang="it-IT" sz="2000" dirty="0"/>
              <a:t> contiene uno snapshot dello stato ed è usato solo per salvataggio e ripristino. Il </a:t>
            </a:r>
            <a:r>
              <a:rPr lang="it-IT" sz="2000" b="1" dirty="0" err="1"/>
              <a:t>SaveManager</a:t>
            </a:r>
            <a:r>
              <a:rPr lang="it-IT" sz="2000" b="1" dirty="0"/>
              <a:t> (</a:t>
            </a:r>
            <a:r>
              <a:rPr lang="it-IT" sz="2000" b="1" dirty="0" err="1"/>
              <a:t>Caretaker</a:t>
            </a:r>
            <a:r>
              <a:rPr lang="it-IT" sz="2000" b="1" dirty="0"/>
              <a:t>) </a:t>
            </a:r>
            <a:r>
              <a:rPr lang="it-IT" sz="2000" dirty="0"/>
              <a:t>gestisce gli slot di salvataggio e si limita a conservare il Memento e richiedere </a:t>
            </a:r>
            <a:r>
              <a:rPr lang="it-IT" sz="2000"/>
              <a:t>il ripristino</a:t>
            </a:r>
            <a:endParaRPr lang="it-IT" sz="200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D941B551-433A-D450-23E5-BAB716FB5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092" y="970966"/>
            <a:ext cx="3684567" cy="4912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875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BB269-483F-0A8F-9E73-AF3D7A8E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3FF713-AD87-F5E0-7A6C-B3E0E2C21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10: </a:t>
            </a:r>
            <a:r>
              <a:rPr lang="it-IT" dirty="0"/>
              <a:t>Story </a:t>
            </a:r>
            <a:r>
              <a:rPr lang="it-IT" dirty="0" err="1"/>
              <a:t>choices</a:t>
            </a:r>
            <a:r>
              <a:rPr lang="it-IT" dirty="0"/>
              <a:t> </a:t>
            </a:r>
            <a:r>
              <a:rPr lang="it-IT" dirty="0" err="1"/>
              <a:t>influences</a:t>
            </a:r>
            <a:r>
              <a:rPr lang="it-IT" dirty="0"/>
              <a:t> future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F5777D71-228D-36A4-79EF-9ED78AEDE2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2898607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312686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E3596DD-156A-473E-9BB3-C6A29F757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C46C4D6-C474-4E92-B52E-944C1118F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962785" cy="6858000"/>
          </a:xfrm>
          <a:custGeom>
            <a:avLst/>
            <a:gdLst>
              <a:gd name="connsiteX0" fmla="*/ 1044839 w 5962785"/>
              <a:gd name="connsiteY0" fmla="*/ 0 h 6858000"/>
              <a:gd name="connsiteX1" fmla="*/ 5962785 w 5962785"/>
              <a:gd name="connsiteY1" fmla="*/ 0 h 6858000"/>
              <a:gd name="connsiteX2" fmla="*/ 5962785 w 5962785"/>
              <a:gd name="connsiteY2" fmla="*/ 6858000 h 6858000"/>
              <a:gd name="connsiteX3" fmla="*/ 1469886 w 5962785"/>
              <a:gd name="connsiteY3" fmla="*/ 6858000 h 6858000"/>
              <a:gd name="connsiteX4" fmla="*/ 1416006 w 5962785"/>
              <a:gd name="connsiteY4" fmla="*/ 6823984 h 6858000"/>
              <a:gd name="connsiteX5" fmla="*/ 1232473 w 5962785"/>
              <a:gd name="connsiteY5" fmla="*/ 6733873 h 6858000"/>
              <a:gd name="connsiteX6" fmla="*/ 1075471 w 5962785"/>
              <a:gd name="connsiteY6" fmla="*/ 6503186 h 6858000"/>
              <a:gd name="connsiteX7" fmla="*/ 1020229 w 5962785"/>
              <a:gd name="connsiteY7" fmla="*/ 6438306 h 6858000"/>
              <a:gd name="connsiteX8" fmla="*/ 883579 w 5962785"/>
              <a:gd name="connsiteY8" fmla="*/ 6351798 h 6858000"/>
              <a:gd name="connsiteX9" fmla="*/ 645167 w 5962785"/>
              <a:gd name="connsiteY9" fmla="*/ 6167969 h 6858000"/>
              <a:gd name="connsiteX10" fmla="*/ 732391 w 5962785"/>
              <a:gd name="connsiteY10" fmla="*/ 6124716 h 6858000"/>
              <a:gd name="connsiteX11" fmla="*/ 985339 w 5962785"/>
              <a:gd name="connsiteY11" fmla="*/ 6236455 h 6858000"/>
              <a:gd name="connsiteX12" fmla="*/ 1168509 w 5962785"/>
              <a:gd name="connsiteY12" fmla="*/ 6265291 h 6858000"/>
              <a:gd name="connsiteX13" fmla="*/ 909746 w 5962785"/>
              <a:gd name="connsiteY13" fmla="*/ 6070649 h 6858000"/>
              <a:gd name="connsiteX14" fmla="*/ 659704 w 5962785"/>
              <a:gd name="connsiteY14" fmla="*/ 5818335 h 6858000"/>
              <a:gd name="connsiteX15" fmla="*/ 851597 w 5962785"/>
              <a:gd name="connsiteY15" fmla="*/ 5865193 h 6858000"/>
              <a:gd name="connsiteX16" fmla="*/ 860319 w 5962785"/>
              <a:gd name="connsiteY16" fmla="*/ 5832753 h 6858000"/>
              <a:gd name="connsiteX17" fmla="*/ 691686 w 5962785"/>
              <a:gd name="connsiteY17" fmla="*/ 5533581 h 6858000"/>
              <a:gd name="connsiteX18" fmla="*/ 610278 w 5962785"/>
              <a:gd name="connsiteY18" fmla="*/ 5411029 h 6858000"/>
              <a:gd name="connsiteX19" fmla="*/ 238123 w 5962785"/>
              <a:gd name="connsiteY19" fmla="*/ 5046976 h 6858000"/>
              <a:gd name="connsiteX20" fmla="*/ 592833 w 5962785"/>
              <a:gd name="connsiteY20" fmla="*/ 5209177 h 6858000"/>
              <a:gd name="connsiteX21" fmla="*/ 226494 w 5962785"/>
              <a:gd name="connsiteY21" fmla="*/ 4855939 h 6858000"/>
              <a:gd name="connsiteX22" fmla="*/ 49139 w 5962785"/>
              <a:gd name="connsiteY22" fmla="*/ 4726177 h 6858000"/>
              <a:gd name="connsiteX23" fmla="*/ 5527 w 5962785"/>
              <a:gd name="connsiteY23" fmla="*/ 4650483 h 6858000"/>
              <a:gd name="connsiteX24" fmla="*/ 84029 w 5962785"/>
              <a:gd name="connsiteY24" fmla="*/ 4632460 h 6858000"/>
              <a:gd name="connsiteX25" fmla="*/ 325347 w 5962785"/>
              <a:gd name="connsiteY25" fmla="*/ 4661296 h 6858000"/>
              <a:gd name="connsiteX26" fmla="*/ 25879 w 5962785"/>
              <a:gd name="connsiteY26" fmla="*/ 4423401 h 6858000"/>
              <a:gd name="connsiteX27" fmla="*/ 249753 w 5962785"/>
              <a:gd name="connsiteY27" fmla="*/ 4459446 h 6858000"/>
              <a:gd name="connsiteX28" fmla="*/ 313718 w 5962785"/>
              <a:gd name="connsiteY28" fmla="*/ 4365729 h 6858000"/>
              <a:gd name="connsiteX29" fmla="*/ 418386 w 5962785"/>
              <a:gd name="connsiteY29" fmla="*/ 4214341 h 6858000"/>
              <a:gd name="connsiteX30" fmla="*/ 491072 w 5962785"/>
              <a:gd name="connsiteY30" fmla="*/ 4131438 h 6858000"/>
              <a:gd name="connsiteX31" fmla="*/ 520147 w 5962785"/>
              <a:gd name="connsiteY31" fmla="*/ 3864706 h 6858000"/>
              <a:gd name="connsiteX32" fmla="*/ 459090 w 5962785"/>
              <a:gd name="connsiteY32" fmla="*/ 3572743 h 6858000"/>
              <a:gd name="connsiteX33" fmla="*/ 290458 w 5962785"/>
              <a:gd name="connsiteY33" fmla="*/ 3424959 h 6858000"/>
              <a:gd name="connsiteX34" fmla="*/ 339884 w 5962785"/>
              <a:gd name="connsiteY34" fmla="*/ 3259153 h 6858000"/>
              <a:gd name="connsiteX35" fmla="*/ 697501 w 5962785"/>
              <a:gd name="connsiteY35" fmla="*/ 3360078 h 6858000"/>
              <a:gd name="connsiteX36" fmla="*/ 165437 w 5962785"/>
              <a:gd name="connsiteY36" fmla="*/ 2967190 h 6858000"/>
              <a:gd name="connsiteX37" fmla="*/ 255568 w 5962785"/>
              <a:gd name="connsiteY37" fmla="*/ 2949167 h 6858000"/>
              <a:gd name="connsiteX38" fmla="*/ 578296 w 5962785"/>
              <a:gd name="connsiteY38" fmla="*/ 2725691 h 6858000"/>
              <a:gd name="connsiteX39" fmla="*/ 595740 w 5962785"/>
              <a:gd name="connsiteY39" fmla="*/ 2714876 h 6858000"/>
              <a:gd name="connsiteX40" fmla="*/ 650982 w 5962785"/>
              <a:gd name="connsiteY40" fmla="*/ 2574301 h 6858000"/>
              <a:gd name="connsiteX41" fmla="*/ 825429 w 5962785"/>
              <a:gd name="connsiteY41" fmla="*/ 2552674 h 6858000"/>
              <a:gd name="connsiteX42" fmla="*/ 970802 w 5962785"/>
              <a:gd name="connsiteY42" fmla="*/ 2585115 h 6858000"/>
              <a:gd name="connsiteX43" fmla="*/ 1127805 w 5962785"/>
              <a:gd name="connsiteY43" fmla="*/ 2545465 h 6858000"/>
              <a:gd name="connsiteX44" fmla="*/ 1267362 w 5962785"/>
              <a:gd name="connsiteY44" fmla="*/ 2563488 h 6858000"/>
              <a:gd name="connsiteX45" fmla="*/ 1386568 w 5962785"/>
              <a:gd name="connsiteY45" fmla="*/ 2538257 h 6858000"/>
              <a:gd name="connsiteX46" fmla="*/ 1270270 w 5962785"/>
              <a:gd name="connsiteY46" fmla="*/ 2419309 h 6858000"/>
              <a:gd name="connsiteX47" fmla="*/ 1107453 w 5962785"/>
              <a:gd name="connsiteY47" fmla="*/ 2419309 h 6858000"/>
              <a:gd name="connsiteX48" fmla="*/ 991154 w 5962785"/>
              <a:gd name="connsiteY48" fmla="*/ 2343615 h 6858000"/>
              <a:gd name="connsiteX49" fmla="*/ 880671 w 5962785"/>
              <a:gd name="connsiteY49" fmla="*/ 2206645 h 6858000"/>
              <a:gd name="connsiteX50" fmla="*/ 491072 w 5962785"/>
              <a:gd name="connsiteY50" fmla="*/ 1986771 h 6858000"/>
              <a:gd name="connsiteX51" fmla="*/ 421293 w 5962785"/>
              <a:gd name="connsiteY51" fmla="*/ 1903868 h 6858000"/>
              <a:gd name="connsiteX52" fmla="*/ 1531941 w 5962785"/>
              <a:gd name="connsiteY52" fmla="*/ 2224667 h 6858000"/>
              <a:gd name="connsiteX53" fmla="*/ 1188861 w 5962785"/>
              <a:gd name="connsiteY53" fmla="*/ 2091301 h 6858000"/>
              <a:gd name="connsiteX54" fmla="*/ 1421458 w 5962785"/>
              <a:gd name="connsiteY54" fmla="*/ 2116532 h 6858000"/>
              <a:gd name="connsiteX55" fmla="*/ 1549386 w 5962785"/>
              <a:gd name="connsiteY55" fmla="*/ 2026420 h 6858000"/>
              <a:gd name="connsiteX56" fmla="*/ 1549386 w 5962785"/>
              <a:gd name="connsiteY56" fmla="*/ 1997584 h 6858000"/>
              <a:gd name="connsiteX57" fmla="*/ 1453440 w 5962785"/>
              <a:gd name="connsiteY57" fmla="*/ 1914682 h 6858000"/>
              <a:gd name="connsiteX58" fmla="*/ 1398198 w 5962785"/>
              <a:gd name="connsiteY58" fmla="*/ 1860614 h 6858000"/>
              <a:gd name="connsiteX59" fmla="*/ 1247011 w 5962785"/>
              <a:gd name="connsiteY59" fmla="*/ 1665972 h 6858000"/>
              <a:gd name="connsiteX60" fmla="*/ 1354586 w 5962785"/>
              <a:gd name="connsiteY60" fmla="*/ 1644345 h 6858000"/>
              <a:gd name="connsiteX61" fmla="*/ 1395290 w 5962785"/>
              <a:gd name="connsiteY61" fmla="*/ 1604696 h 6858000"/>
              <a:gd name="connsiteX62" fmla="*/ 1366216 w 5962785"/>
              <a:gd name="connsiteY62" fmla="*/ 1547025 h 6858000"/>
              <a:gd name="connsiteX63" fmla="*/ 1031858 w 5962785"/>
              <a:gd name="connsiteY63" fmla="*/ 1370405 h 6858000"/>
              <a:gd name="connsiteX64" fmla="*/ 1005692 w 5962785"/>
              <a:gd name="connsiteY64" fmla="*/ 1233435 h 6858000"/>
              <a:gd name="connsiteX65" fmla="*/ 1069655 w 5962785"/>
              <a:gd name="connsiteY65" fmla="*/ 1211808 h 6858000"/>
              <a:gd name="connsiteX66" fmla="*/ 1142342 w 5962785"/>
              <a:gd name="connsiteY66" fmla="*/ 1222621 h 6858000"/>
              <a:gd name="connsiteX67" fmla="*/ 1084193 w 5962785"/>
              <a:gd name="connsiteY67" fmla="*/ 1114487 h 6858000"/>
              <a:gd name="connsiteX68" fmla="*/ 848689 w 5962785"/>
              <a:gd name="connsiteY68" fmla="*/ 1006353 h 6858000"/>
              <a:gd name="connsiteX69" fmla="*/ 805077 w 5962785"/>
              <a:gd name="connsiteY69" fmla="*/ 948681 h 6858000"/>
              <a:gd name="connsiteX70" fmla="*/ 863226 w 5962785"/>
              <a:gd name="connsiteY70" fmla="*/ 919844 h 6858000"/>
              <a:gd name="connsiteX71" fmla="*/ 906838 w 5962785"/>
              <a:gd name="connsiteY71" fmla="*/ 909031 h 6858000"/>
              <a:gd name="connsiteX72" fmla="*/ 5527 w 5962785"/>
              <a:gd name="connsiteY72" fmla="*/ 458471 h 6858000"/>
              <a:gd name="connsiteX73" fmla="*/ 209049 w 5962785"/>
              <a:gd name="connsiteY73" fmla="*/ 454867 h 6858000"/>
              <a:gd name="connsiteX74" fmla="*/ 409664 w 5962785"/>
              <a:gd name="connsiteY74" fmla="*/ 526956 h 6858000"/>
              <a:gd name="connsiteX75" fmla="*/ 621908 w 5962785"/>
              <a:gd name="connsiteY75" fmla="*/ 516143 h 6858000"/>
              <a:gd name="connsiteX76" fmla="*/ 822522 w 5962785"/>
              <a:gd name="connsiteY76" fmla="*/ 552188 h 6858000"/>
              <a:gd name="connsiteX77" fmla="*/ 996969 w 5962785"/>
              <a:gd name="connsiteY77" fmla="*/ 552188 h 6858000"/>
              <a:gd name="connsiteX78" fmla="*/ 834151 w 5962785"/>
              <a:gd name="connsiteY78" fmla="*/ 498120 h 6858000"/>
              <a:gd name="connsiteX79" fmla="*/ 773095 w 5962785"/>
              <a:gd name="connsiteY79" fmla="*/ 408008 h 6858000"/>
              <a:gd name="connsiteX80" fmla="*/ 793447 w 5962785"/>
              <a:gd name="connsiteY80" fmla="*/ 325106 h 6858000"/>
              <a:gd name="connsiteX81" fmla="*/ 860319 w 5962785"/>
              <a:gd name="connsiteY81" fmla="*/ 350336 h 6858000"/>
              <a:gd name="connsiteX82" fmla="*/ 938820 w 5962785"/>
              <a:gd name="connsiteY82" fmla="*/ 444054 h 6858000"/>
              <a:gd name="connsiteX83" fmla="*/ 956265 w 5962785"/>
              <a:gd name="connsiteY83" fmla="*/ 386381 h 6858000"/>
              <a:gd name="connsiteX84" fmla="*/ 1002784 w 5962785"/>
              <a:gd name="connsiteY84" fmla="*/ 343127 h 6858000"/>
              <a:gd name="connsiteX85" fmla="*/ 1270270 w 5962785"/>
              <a:gd name="connsiteY85" fmla="*/ 364755 h 6858000"/>
              <a:gd name="connsiteX86" fmla="*/ 1092915 w 5962785"/>
              <a:gd name="connsiteY86" fmla="*/ 180926 h 6858000"/>
              <a:gd name="connsiteX87" fmla="*/ 979525 w 5962785"/>
              <a:gd name="connsiteY87" fmla="*/ 152090 h 6858000"/>
              <a:gd name="connsiteX88" fmla="*/ 953358 w 5962785"/>
              <a:gd name="connsiteY88" fmla="*/ 76396 h 6858000"/>
              <a:gd name="connsiteX89" fmla="*/ 1005692 w 5962785"/>
              <a:gd name="connsiteY89" fmla="*/ 58373 h 6858000"/>
              <a:gd name="connsiteX90" fmla="*/ 1267362 w 5962785"/>
              <a:gd name="connsiteY90" fmla="*/ 123254 h 6858000"/>
              <a:gd name="connsiteX91" fmla="*/ 1310975 w 5962785"/>
              <a:gd name="connsiteY91" fmla="*/ 98023 h 6858000"/>
              <a:gd name="connsiteX92" fmla="*/ 1159787 w 5962785"/>
              <a:gd name="connsiteY92" fmla="*/ 43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70DB975-713B-2D11-A72E-EF6830337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937" y="920087"/>
            <a:ext cx="4011792" cy="532411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000" dirty="0" err="1"/>
              <a:t>Gli</a:t>
            </a:r>
            <a:r>
              <a:rPr lang="en-US" sz="2000" dirty="0"/>
              <a:t> </a:t>
            </a:r>
            <a:r>
              <a:rPr lang="en-US" sz="2000" i="1" dirty="0" err="1"/>
              <a:t>StoryNode</a:t>
            </a:r>
            <a:r>
              <a:rPr lang="en-US" sz="2000" i="1" dirty="0"/>
              <a:t> </a:t>
            </a:r>
            <a:r>
              <a:rPr lang="en-US" sz="2000" dirty="0" err="1"/>
              <a:t>sono</a:t>
            </a:r>
            <a:r>
              <a:rPr lang="en-US" sz="2000" dirty="0"/>
              <a:t> </a:t>
            </a:r>
            <a:r>
              <a:rPr lang="en-US" sz="2000" dirty="0" err="1"/>
              <a:t>disposti</a:t>
            </a:r>
            <a:r>
              <a:rPr lang="en-US" sz="2000" dirty="0"/>
              <a:t> in </a:t>
            </a:r>
            <a:r>
              <a:rPr lang="en-US" sz="2000" dirty="0" err="1"/>
              <a:t>una</a:t>
            </a:r>
            <a:r>
              <a:rPr lang="en-US" sz="2000" dirty="0"/>
              <a:t> </a:t>
            </a:r>
            <a:r>
              <a:rPr lang="en-US" sz="2000" dirty="0" err="1"/>
              <a:t>struttura</a:t>
            </a:r>
            <a:r>
              <a:rPr lang="en-US" sz="2000" dirty="0"/>
              <a:t> a </a:t>
            </a:r>
            <a:r>
              <a:rPr lang="en-US" sz="2000" dirty="0" err="1"/>
              <a:t>grafo</a:t>
            </a:r>
            <a:r>
              <a:rPr lang="en-US" sz="2000" dirty="0"/>
              <a:t> </a:t>
            </a:r>
            <a:r>
              <a:rPr lang="en-US" sz="2000" dirty="0" err="1"/>
              <a:t>nella</a:t>
            </a:r>
            <a:r>
              <a:rPr lang="en-US" sz="2000" dirty="0"/>
              <a:t> </a:t>
            </a:r>
            <a:r>
              <a:rPr lang="en-US" sz="2000" dirty="0" err="1"/>
              <a:t>risorsa</a:t>
            </a:r>
            <a:r>
              <a:rPr lang="en-US" sz="2000" dirty="0"/>
              <a:t> </a:t>
            </a:r>
            <a:r>
              <a:rPr lang="en-US" sz="2000" dirty="0" err="1"/>
              <a:t>testuale</a:t>
            </a:r>
            <a:r>
              <a:rPr lang="en-US" sz="2000" dirty="0"/>
              <a:t> "</a:t>
            </a:r>
            <a:r>
              <a:rPr lang="en-US" sz="2000" dirty="0" err="1"/>
              <a:t>dialogues.json</a:t>
            </a:r>
            <a:r>
              <a:rPr lang="en-US" sz="2000" dirty="0"/>
              <a:t>".</a:t>
            </a:r>
            <a:br>
              <a:rPr lang="en-US" sz="2000" dirty="0"/>
            </a:br>
            <a:r>
              <a:rPr lang="en-US" sz="2000" dirty="0"/>
              <a:t>Data la </a:t>
            </a:r>
            <a:r>
              <a:rPr lang="en-US" sz="2000" dirty="0" err="1"/>
              <a:t>complessità</a:t>
            </a:r>
            <a:r>
              <a:rPr lang="en-US" sz="2000" dirty="0"/>
              <a:t> di </a:t>
            </a:r>
            <a:r>
              <a:rPr lang="en-US" sz="2000" dirty="0" err="1"/>
              <a:t>una</a:t>
            </a:r>
            <a:r>
              <a:rPr lang="en-US" sz="2000" dirty="0"/>
              <a:t> </a:t>
            </a:r>
            <a:r>
              <a:rPr lang="en-US" sz="2000" dirty="0" err="1"/>
              <a:t>foglia</a:t>
            </a:r>
            <a:r>
              <a:rPr lang="en-US" sz="2000" dirty="0"/>
              <a:t> del </a:t>
            </a:r>
            <a:r>
              <a:rPr lang="en-US" sz="2000" dirty="0" err="1"/>
              <a:t>grafo</a:t>
            </a:r>
            <a:r>
              <a:rPr lang="en-US" sz="2000" dirty="0"/>
              <a:t> (uno </a:t>
            </a:r>
            <a:r>
              <a:rPr lang="en-US" sz="2000" i="1" dirty="0" err="1"/>
              <a:t>StoryNode</a:t>
            </a:r>
            <a:r>
              <a:rPr lang="en-US" sz="2000" i="1" dirty="0"/>
              <a:t> </a:t>
            </a:r>
            <a:r>
              <a:rPr lang="en-US" sz="2000" dirty="0" err="1"/>
              <a:t>appunto</a:t>
            </a:r>
            <a:r>
              <a:rPr lang="en-US" sz="2000" dirty="0"/>
              <a:t>) </a:t>
            </a:r>
            <a:r>
              <a:rPr lang="en-US" sz="2000" dirty="0" err="1"/>
              <a:t>utilizziamo</a:t>
            </a:r>
            <a:r>
              <a:rPr lang="en-US" sz="2000" dirty="0"/>
              <a:t> il design pattern </a:t>
            </a:r>
            <a:r>
              <a:rPr lang="en-US" sz="2000" b="1" dirty="0"/>
              <a:t>Builder </a:t>
            </a:r>
            <a:r>
              <a:rPr lang="en-US" sz="2000" dirty="0"/>
              <a:t>per </a:t>
            </a:r>
            <a:r>
              <a:rPr lang="en-US" sz="2000" dirty="0" err="1"/>
              <a:t>istanziare</a:t>
            </a:r>
            <a:r>
              <a:rPr lang="en-US" sz="2000" dirty="0"/>
              <a:t> </a:t>
            </a:r>
            <a:r>
              <a:rPr lang="en-US" sz="2000" dirty="0" err="1"/>
              <a:t>agevolmente</a:t>
            </a:r>
            <a:r>
              <a:rPr lang="en-US" sz="2000" dirty="0"/>
              <a:t> un </a:t>
            </a:r>
            <a:r>
              <a:rPr lang="en-US" sz="2000" dirty="0" err="1"/>
              <a:t>oggetto</a:t>
            </a:r>
            <a:r>
              <a:rPr lang="en-US" sz="2000" dirty="0"/>
              <a:t> di </a:t>
            </a:r>
            <a:r>
              <a:rPr lang="en-US" sz="2000" dirty="0" err="1"/>
              <a:t>tipo</a:t>
            </a:r>
            <a:r>
              <a:rPr lang="en-US" sz="2000" dirty="0"/>
              <a:t> </a:t>
            </a:r>
            <a:r>
              <a:rPr lang="en-US" sz="2000" i="1" dirty="0" err="1"/>
              <a:t>StoryNode</a:t>
            </a:r>
            <a:r>
              <a:rPr lang="en-US" sz="2000" dirty="0"/>
              <a:t>.</a:t>
            </a:r>
          </a:p>
        </p:txBody>
      </p:sp>
      <p:pic>
        <p:nvPicPr>
          <p:cNvPr id="5" name="Segnaposto contenuto 4" descr="Immagine che contiene testo, schermata, Carattere, Parallelo&#10;&#10;Il contenuto generato dall'IA potrebbe non essere corretto.">
            <a:extLst>
              <a:ext uri="{FF2B5EF4-FFF2-40B4-BE49-F238E27FC236}">
                <a16:creationId xmlns:a16="http://schemas.microsoft.com/office/drawing/2014/main" id="{B3F9794F-3C7B-F269-80DF-72D2D5C8F4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810" y="643234"/>
            <a:ext cx="4577898" cy="5599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05984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1697</Words>
  <Application>Microsoft Office PowerPoint</Application>
  <PresentationFormat>Widescreen</PresentationFormat>
  <Paragraphs>95</Paragraphs>
  <Slides>33</Slides>
  <Notes>2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33</vt:i4>
      </vt:variant>
    </vt:vector>
  </HeadingPairs>
  <TitlesOfParts>
    <vt:vector size="34" baseType="lpstr">
      <vt:lpstr>Tema di Office</vt:lpstr>
      <vt:lpstr>The Cycle Game</vt:lpstr>
      <vt:lpstr>First Sprint</vt:lpstr>
      <vt:lpstr>Trama</vt:lpstr>
      <vt:lpstr>MVC Architecture</vt:lpstr>
      <vt:lpstr>Presentazione standard di PowerPoint</vt:lpstr>
      <vt:lpstr>View</vt:lpstr>
      <vt:lpstr>Controller</vt:lpstr>
      <vt:lpstr>Il Nostro MVC</vt:lpstr>
      <vt:lpstr>User Story 1: Game Launch</vt:lpstr>
      <vt:lpstr>Presentazione standard di PowerPoint</vt:lpstr>
      <vt:lpstr>User Story 3: Start game</vt:lpstr>
      <vt:lpstr>Presentazione standard di PowerPoint</vt:lpstr>
      <vt:lpstr>User Story 13: Exploration Movement</vt:lpstr>
      <vt:lpstr>User Story 14: Fighting Enemies</vt:lpstr>
      <vt:lpstr>Presentazione standard di PowerPoint</vt:lpstr>
      <vt:lpstr>User Story 15: Damage, effect &amp; healing calculation </vt:lpstr>
      <vt:lpstr>Presentazione standard di PowerPoint</vt:lpstr>
      <vt:lpstr>User Story 16: Turn based battles</vt:lpstr>
      <vt:lpstr>Presentazione standard di PowerPoint</vt:lpstr>
      <vt:lpstr>Presentazione standard di PowerPoint</vt:lpstr>
      <vt:lpstr>Second Sprint</vt:lpstr>
      <vt:lpstr>User Story 21: Map</vt:lpstr>
      <vt:lpstr>Presentazione standard di PowerPoint</vt:lpstr>
      <vt:lpstr>User Story 4:Choose character job</vt:lpstr>
      <vt:lpstr>Perché Abstract Factory?</vt:lpstr>
      <vt:lpstr>US14-Fighting Enemies</vt:lpstr>
      <vt:lpstr>Perché Observer?</vt:lpstr>
      <vt:lpstr>User Story 18:Combat System &amp; Character Evolution </vt:lpstr>
      <vt:lpstr>Perché questi pattern?</vt:lpstr>
      <vt:lpstr>User Story 9:Manual save into slot</vt:lpstr>
      <vt:lpstr>Perché Memento?</vt:lpstr>
      <vt:lpstr>User Story 10: Story choices influences future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GIULIA FILICICCHIA</dc:creator>
  <cp:lastModifiedBy>GIULIA FILICICCHIA</cp:lastModifiedBy>
  <cp:revision>105</cp:revision>
  <dcterms:created xsi:type="dcterms:W3CDTF">2025-12-01T14:20:48Z</dcterms:created>
  <dcterms:modified xsi:type="dcterms:W3CDTF">2026-01-13T12:34:15Z</dcterms:modified>
</cp:coreProperties>
</file>